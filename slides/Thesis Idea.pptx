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2" r:id="rId9"/>
    <p:sldId id="283" r:id="rId10"/>
    <p:sldId id="284" r:id="rId11"/>
    <p:sldId id="263" r:id="rId12"/>
    <p:sldId id="264" r:id="rId13"/>
    <p:sldId id="265" r:id="rId14"/>
    <p:sldId id="266" r:id="rId15"/>
    <p:sldId id="267" r:id="rId16"/>
    <p:sldId id="285" r:id="rId17"/>
    <p:sldId id="286" r:id="rId18"/>
    <p:sldId id="28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88" r:id="rId27"/>
    <p:sldId id="275" r:id="rId28"/>
    <p:sldId id="276" r:id="rId29"/>
    <p:sldId id="277" r:id="rId30"/>
    <p:sldId id="278" r:id="rId31"/>
    <p:sldId id="279" r:id="rId32"/>
    <p:sldId id="280" r:id="rId33"/>
    <p:sldId id="289" r:id="rId34"/>
    <p:sldId id="281" r:id="rId35"/>
  </p:sldIdLst>
  <p:sldSz cx="18288000" cy="10287000"/>
  <p:notesSz cx="6858000" cy="9144000"/>
  <p:embeddedFontLst>
    <p:embeddedFont>
      <p:font typeface="Anantason Condensed" panose="020B0604020202020204" charset="-34"/>
      <p:regular r:id="rId37"/>
    </p:embeddedFont>
    <p:embeddedFont>
      <p:font typeface="Anantason Condensed Bold" panose="020B0604020202020204" charset="-34"/>
      <p:regular r:id="rId38"/>
    </p:embeddedFont>
    <p:embeddedFont>
      <p:font typeface="Anantason Condensed Heavy" panose="020B0604020202020204" charset="-34"/>
      <p:regular r:id="rId39"/>
    </p:embeddedFont>
    <p:embeddedFont>
      <p:font typeface="Anantason Condensed Medium" panose="020B0604020202020204" charset="-34"/>
      <p:regular r:id="rId40"/>
    </p:embeddedFont>
    <p:embeddedFont>
      <p:font typeface="Anantason Condensed Semi-Bold" panose="020B0604020202020204" charset="-34"/>
      <p:regular r:id="rId41"/>
    </p:embeddedFont>
    <p:embeddedFont>
      <p:font typeface="Archivo Narrow" panose="020B0604020202020204" charset="0"/>
      <p:regular r:id="rId42"/>
    </p:embeddedFont>
    <p:embeddedFont>
      <p:font typeface="Archivo Narrow Bold" panose="020B0604020202020204" charset="0"/>
      <p:regular r:id="rId43"/>
    </p:embeddedFont>
    <p:embeddedFont>
      <p:font typeface="Heading Now 61-68 Bold" panose="020B0604020202020204" charset="0"/>
      <p:regular r:id="rId44"/>
    </p:embeddedFont>
    <p:embeddedFont>
      <p:font typeface="Roboto" panose="02000000000000000000" pitchFamily="2" charset="0"/>
      <p:regular r:id="rId45"/>
    </p:embeddedFont>
    <p:embeddedFont>
      <p:font typeface="Roboto Bold" panose="020B0604020202020204" charset="0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FB0986-2B83-4070-AA56-CDA4D7DBFAF6}" type="datetimeFigureOut">
              <a:rPr lang="it-IT" smtClean="0"/>
              <a:t>12/10/2026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7EACA-5093-4920-8B00-E8292D5D7CE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110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7EACA-5093-4920-8B00-E8292D5D7CE7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7080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1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01866" y="0"/>
            <a:ext cx="1531292" cy="644987"/>
          </a:xfrm>
          <a:custGeom>
            <a:avLst/>
            <a:gdLst/>
            <a:ahLst/>
            <a:cxnLst/>
            <a:rect l="l" t="t" r="r" b="b"/>
            <a:pathLst>
              <a:path w="1531292" h="644987">
                <a:moveTo>
                  <a:pt x="0" y="0"/>
                </a:moveTo>
                <a:lnTo>
                  <a:pt x="1531292" y="0"/>
                </a:lnTo>
                <a:lnTo>
                  <a:pt x="153129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59732" y="207708"/>
            <a:ext cx="2406316" cy="1300906"/>
          </a:xfrm>
          <a:custGeom>
            <a:avLst/>
            <a:gdLst/>
            <a:ahLst/>
            <a:cxnLst/>
            <a:rect l="l" t="t" r="r" b="b"/>
            <a:pathLst>
              <a:path w="2406316" h="130090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748622" y="8352038"/>
            <a:ext cx="6759560" cy="1934962"/>
          </a:xfrm>
          <a:custGeom>
            <a:avLst/>
            <a:gdLst/>
            <a:ahLst/>
            <a:cxnLst/>
            <a:rect l="l" t="t" r="r" b="b"/>
            <a:pathLst>
              <a:path w="6759560" h="1934962">
                <a:moveTo>
                  <a:pt x="0" y="0"/>
                </a:moveTo>
                <a:lnTo>
                  <a:pt x="6759560" y="0"/>
                </a:lnTo>
                <a:lnTo>
                  <a:pt x="675956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789330" y="8778386"/>
            <a:ext cx="1968804" cy="1508614"/>
          </a:xfrm>
          <a:custGeom>
            <a:avLst/>
            <a:gdLst/>
            <a:ahLst/>
            <a:cxnLst/>
            <a:rect l="l" t="t" r="r" b="b"/>
            <a:pathLst>
              <a:path w="1968804" h="1508614">
                <a:moveTo>
                  <a:pt x="0" y="0"/>
                </a:moveTo>
                <a:lnTo>
                  <a:pt x="1968804" y="0"/>
                </a:lnTo>
                <a:lnTo>
                  <a:pt x="196880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017598" y="6635716"/>
            <a:ext cx="3270402" cy="3651284"/>
          </a:xfrm>
          <a:custGeom>
            <a:avLst/>
            <a:gdLst/>
            <a:ahLst/>
            <a:cxnLst/>
            <a:rect l="l" t="t" r="r" b="b"/>
            <a:pathLst>
              <a:path w="3270402" h="3651284">
                <a:moveTo>
                  <a:pt x="0" y="0"/>
                </a:moveTo>
                <a:lnTo>
                  <a:pt x="3270402" y="0"/>
                </a:lnTo>
                <a:lnTo>
                  <a:pt x="3270402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52241" y="869049"/>
            <a:ext cx="7106331" cy="244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20"/>
              </a:lnSpc>
            </a:pPr>
            <a:r>
              <a:rPr lang="en-US" sz="9914" b="1" spc="198">
                <a:solidFill>
                  <a:srgbClr val="EFE7D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AUTOMATED FOOTBALL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3082" y="3339027"/>
            <a:ext cx="7022279" cy="244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20"/>
              </a:lnSpc>
            </a:pPr>
            <a:r>
              <a:rPr lang="en-US" sz="9914" b="1" spc="198">
                <a:solidFill>
                  <a:srgbClr val="5F9234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OPPOSITION REPORT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0" y="5783021"/>
            <a:ext cx="1968804" cy="437279"/>
          </a:xfrm>
          <a:custGeom>
            <a:avLst/>
            <a:gdLst/>
            <a:ahLst/>
            <a:cxnLst/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71511" y="6343555"/>
            <a:ext cx="5179348" cy="141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234" spc="31">
                <a:solidFill>
                  <a:srgbClr val="EFE7D6"/>
                </a:solidFill>
                <a:latin typeface="Roboto"/>
                <a:ea typeface="Roboto"/>
                <a:cs typeface="Roboto"/>
                <a:sym typeface="Roboto"/>
              </a:rPr>
              <a:t>From Descriptive Analytics to </a:t>
            </a:r>
            <a:r>
              <a:rPr lang="en-US" sz="3234" spc="31">
                <a:solidFill>
                  <a:srgbClr val="5F9234"/>
                </a:solidFill>
                <a:latin typeface="Roboto"/>
                <a:ea typeface="Roboto"/>
                <a:cs typeface="Roboto"/>
                <a:sym typeface="Roboto"/>
              </a:rPr>
              <a:t>Prescriptive Tactics</a:t>
            </a:r>
          </a:p>
          <a:p>
            <a:pPr algn="l">
              <a:lnSpc>
                <a:spcPts val="3720"/>
              </a:lnSpc>
            </a:pPr>
            <a:r>
              <a:rPr lang="en-US" sz="3234" spc="31">
                <a:solidFill>
                  <a:srgbClr val="EFE7D6"/>
                </a:solidFill>
                <a:latin typeface="Roboto"/>
                <a:ea typeface="Roboto"/>
                <a:cs typeface="Roboto"/>
                <a:sym typeface="Roboto"/>
              </a:rPr>
              <a:t>Using </a:t>
            </a:r>
            <a:r>
              <a:rPr lang="en-US" sz="3234" spc="31">
                <a:solidFill>
                  <a:srgbClr val="5F9234"/>
                </a:solidFill>
                <a:latin typeface="Roboto"/>
                <a:ea typeface="Roboto"/>
                <a:cs typeface="Roboto"/>
                <a:sym typeface="Roboto"/>
              </a:rPr>
              <a:t>Open Spatial Data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3595" y="8135795"/>
            <a:ext cx="3970973" cy="48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234" b="1" spc="31">
                <a:solidFill>
                  <a:srgbClr val="5F9234"/>
                </a:solidFill>
                <a:latin typeface="Roboto Bold"/>
                <a:ea typeface="Roboto Bold"/>
                <a:cs typeface="Roboto Bold"/>
                <a:sym typeface="Roboto Bold"/>
              </a:rPr>
              <a:t>Emanuele Colecchia</a:t>
            </a:r>
          </a:p>
        </p:txBody>
      </p:sp>
      <p:sp>
        <p:nvSpPr>
          <p:cNvPr id="13" name="Freeform 13"/>
          <p:cNvSpPr/>
          <p:nvPr/>
        </p:nvSpPr>
        <p:spPr>
          <a:xfrm>
            <a:off x="1138559" y="8778386"/>
            <a:ext cx="5778062" cy="5778062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3" y="0"/>
                </a:lnTo>
                <a:lnTo>
                  <a:pt x="5778063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4" name="Beautifulfootball-ezgif.com-crop-video">
            <a:hlinkClick r:id="" action="ppaction://media"/>
            <a:extLst>
              <a:ext uri="{FF2B5EF4-FFF2-40B4-BE49-F238E27FC236}">
                <a16:creationId xmlns:a16="http://schemas.microsoft.com/office/drawing/2014/main" id="{0E5E4BEB-4D53-5269-82FC-E2D8DC4A4AB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715000" y="486172"/>
            <a:ext cx="6858000" cy="9314656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9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2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15592" y="1908667"/>
            <a:ext cx="12656816" cy="6469667"/>
          </a:xfrm>
          <a:custGeom>
            <a:avLst/>
            <a:gdLst/>
            <a:ahLst/>
            <a:cxnLst/>
            <a:rect l="l" t="t" r="r" b="b"/>
            <a:pathLst>
              <a:path w="12656816" h="6469667">
                <a:moveTo>
                  <a:pt x="0" y="0"/>
                </a:moveTo>
                <a:lnTo>
                  <a:pt x="12656816" y="0"/>
                </a:lnTo>
                <a:lnTo>
                  <a:pt x="12656816" y="6469666"/>
                </a:lnTo>
                <a:lnTo>
                  <a:pt x="0" y="64696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815592" y="1619264"/>
            <a:ext cx="12656816" cy="7048472"/>
          </a:xfrm>
          <a:custGeom>
            <a:avLst/>
            <a:gdLst/>
            <a:ahLst/>
            <a:cxnLst/>
            <a:rect l="l" t="t" r="r" b="b"/>
            <a:pathLst>
              <a:path w="12656816" h="7048472">
                <a:moveTo>
                  <a:pt x="0" y="0"/>
                </a:moveTo>
                <a:lnTo>
                  <a:pt x="12656816" y="0"/>
                </a:lnTo>
                <a:lnTo>
                  <a:pt x="12656816" y="7048472"/>
                </a:lnTo>
                <a:lnTo>
                  <a:pt x="0" y="7048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03" b="-503"/>
            </a:stretch>
          </a:blipFill>
        </p:spPr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01866" y="0"/>
            <a:ext cx="1531292" cy="644987"/>
          </a:xfrm>
          <a:custGeom>
            <a:avLst/>
            <a:gdLst/>
            <a:ahLst/>
            <a:cxnLst/>
            <a:rect l="l" t="t" r="r" b="b"/>
            <a:pathLst>
              <a:path w="1531292" h="644987">
                <a:moveTo>
                  <a:pt x="0" y="0"/>
                </a:moveTo>
                <a:lnTo>
                  <a:pt x="1531292" y="0"/>
                </a:lnTo>
                <a:lnTo>
                  <a:pt x="153129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59732" y="207708"/>
            <a:ext cx="2406316" cy="1300906"/>
          </a:xfrm>
          <a:custGeom>
            <a:avLst/>
            <a:gdLst/>
            <a:ahLst/>
            <a:cxnLst/>
            <a:rect l="l" t="t" r="r" b="b"/>
            <a:pathLst>
              <a:path w="2406316" h="130090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3510" y="7623987"/>
            <a:ext cx="5778062" cy="5778062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99023" y="5143500"/>
            <a:ext cx="3873773" cy="5143500"/>
          </a:xfrm>
          <a:custGeom>
            <a:avLst/>
            <a:gdLst/>
            <a:ahLst/>
            <a:cxnLst/>
            <a:rect l="l" t="t" r="r" b="b"/>
            <a:pathLst>
              <a:path w="3873773" h="5143500">
                <a:moveTo>
                  <a:pt x="0" y="0"/>
                </a:moveTo>
                <a:lnTo>
                  <a:pt x="3873773" y="0"/>
                </a:lnTo>
                <a:lnTo>
                  <a:pt x="387377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4075" r="-89607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10643" y="1284037"/>
            <a:ext cx="11713048" cy="347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0"/>
              </a:lnSpc>
            </a:pPr>
            <a:r>
              <a:rPr lang="en-US" sz="5000" b="1" spc="100" dirty="0">
                <a:solidFill>
                  <a:srgbClr val="EFE7D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HOW DO WE ATTACK THIS SPECIFIC DEFENSIVE STRUCTURE?' OR 'HOW DO WE DEFEND AGAINST THIS RECURRING MOVEMENT?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01866" y="0"/>
            <a:ext cx="1531292" cy="644987"/>
          </a:xfrm>
          <a:custGeom>
            <a:avLst/>
            <a:gdLst/>
            <a:ahLst/>
            <a:cxnLst/>
            <a:rect l="l" t="t" r="r" b="b"/>
            <a:pathLst>
              <a:path w="1531292" h="644987">
                <a:moveTo>
                  <a:pt x="0" y="0"/>
                </a:moveTo>
                <a:lnTo>
                  <a:pt x="1531292" y="0"/>
                </a:lnTo>
                <a:lnTo>
                  <a:pt x="153129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59732" y="207708"/>
            <a:ext cx="2406316" cy="1300906"/>
          </a:xfrm>
          <a:custGeom>
            <a:avLst/>
            <a:gdLst/>
            <a:ahLst/>
            <a:cxnLst/>
            <a:rect l="l" t="t" r="r" b="b"/>
            <a:pathLst>
              <a:path w="2406316" h="130090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3510" y="7623987"/>
            <a:ext cx="5778062" cy="5778062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272628" y="4419522"/>
            <a:ext cx="3476031" cy="5867478"/>
          </a:xfrm>
          <a:custGeom>
            <a:avLst/>
            <a:gdLst/>
            <a:ahLst/>
            <a:cxnLst/>
            <a:rect l="l" t="t" r="r" b="b"/>
            <a:pathLst>
              <a:path w="3476031" h="5867478">
                <a:moveTo>
                  <a:pt x="0" y="0"/>
                </a:moveTo>
                <a:lnTo>
                  <a:pt x="3476031" y="0"/>
                </a:lnTo>
                <a:lnTo>
                  <a:pt x="3476031" y="5867478"/>
                </a:lnTo>
                <a:lnTo>
                  <a:pt x="0" y="58674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130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10643" y="1284037"/>
            <a:ext cx="11713048" cy="347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0"/>
              </a:lnSpc>
            </a:pPr>
            <a:r>
              <a:rPr lang="en-US" sz="5000" b="1" spc="100" dirty="0">
                <a:solidFill>
                  <a:srgbClr val="EFE7D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EXTRACT TACTICAL PATTERNS FROM EVENT DATA TO MATHEMATICALLY MEASURE THEIR STABILITY, PREDICTABILITY, AND EXPLOITABILITY.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9581512" cy="10287000"/>
          </a:xfrm>
          <a:custGeom>
            <a:avLst/>
            <a:gdLst/>
            <a:ahLst/>
            <a:cxnLst/>
            <a:rect l="l" t="t" r="r" b="b"/>
            <a:pathLst>
              <a:path w="9581512" h="10287000">
                <a:moveTo>
                  <a:pt x="0" y="0"/>
                </a:moveTo>
                <a:lnTo>
                  <a:pt x="9581512" y="0"/>
                </a:lnTo>
                <a:lnTo>
                  <a:pt x="95815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351818" y="0"/>
            <a:ext cx="8936182" cy="10287000"/>
          </a:xfrm>
          <a:custGeom>
            <a:avLst/>
            <a:gdLst/>
            <a:ahLst/>
            <a:cxnLst/>
            <a:rect l="l" t="t" r="r" b="b"/>
            <a:pathLst>
              <a:path w="8936182" h="10287000">
                <a:moveTo>
                  <a:pt x="0" y="0"/>
                </a:moveTo>
                <a:lnTo>
                  <a:pt x="8936182" y="0"/>
                </a:lnTo>
                <a:lnTo>
                  <a:pt x="89361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85730" y="1018385"/>
            <a:ext cx="9115297" cy="1201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8"/>
              </a:lnSpc>
            </a:pPr>
            <a:r>
              <a:rPr lang="en-US" sz="9078" b="1" spc="181">
                <a:solidFill>
                  <a:srgbClr val="F2E9D8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THE LIMITATIONS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8945" y="2147948"/>
            <a:ext cx="6793803" cy="1201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8"/>
              </a:lnSpc>
            </a:pPr>
            <a:r>
              <a:rPr lang="en-US" sz="9078" b="1" spc="181">
                <a:solidFill>
                  <a:srgbClr val="679840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OF CURRENT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1916" y="3277511"/>
            <a:ext cx="9496638" cy="1201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8"/>
              </a:lnSpc>
            </a:pPr>
            <a:r>
              <a:rPr lang="en-US" sz="9078" b="1" spc="181">
                <a:solidFill>
                  <a:srgbClr val="679840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MATCH ANALYSIS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4711687"/>
            <a:ext cx="1968804" cy="218640"/>
          </a:xfrm>
          <a:custGeom>
            <a:avLst/>
            <a:gdLst/>
            <a:ahLst/>
            <a:cxnLst/>
            <a:rect l="l" t="t" r="r" b="b"/>
            <a:pathLst>
              <a:path w="1968804" h="218640">
                <a:moveTo>
                  <a:pt x="0" y="0"/>
                </a:moveTo>
                <a:lnTo>
                  <a:pt x="1968804" y="0"/>
                </a:lnTo>
                <a:lnTo>
                  <a:pt x="196880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30190" y="5279563"/>
            <a:ext cx="7348170" cy="1009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Most tools provide </a:t>
            </a:r>
            <a:r>
              <a:rPr lang="en-US" sz="3366">
                <a:solidFill>
                  <a:srgbClr val="679840"/>
                </a:solidFill>
                <a:latin typeface="Roboto"/>
                <a:ea typeface="Roboto"/>
                <a:cs typeface="Roboto"/>
                <a:sym typeface="Roboto"/>
              </a:rPr>
              <a:t>descriptive counts</a:t>
            </a:r>
            <a:r>
              <a:rPr lang="en-US" sz="3366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 from past matches.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1008" y="6740464"/>
            <a:ext cx="6266369" cy="1009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No quantification of </a:t>
            </a:r>
            <a:r>
              <a:rPr lang="en-US" sz="3366">
                <a:solidFill>
                  <a:srgbClr val="679840"/>
                </a:solidFill>
                <a:latin typeface="Roboto"/>
                <a:ea typeface="Roboto"/>
                <a:cs typeface="Roboto"/>
                <a:sym typeface="Roboto"/>
              </a:rPr>
              <a:t>uncertainty</a:t>
            </a:r>
            <a:r>
              <a:rPr lang="en-US" sz="3366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, blurring signal and noise.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5512" y="8216427"/>
            <a:ext cx="5815976" cy="1009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No </a:t>
            </a:r>
            <a:r>
              <a:rPr lang="en-US" sz="3366">
                <a:solidFill>
                  <a:srgbClr val="679840"/>
                </a:solidFill>
                <a:latin typeface="Roboto"/>
                <a:ea typeface="Roboto"/>
                <a:cs typeface="Roboto"/>
                <a:sym typeface="Roboto"/>
              </a:rPr>
              <a:t>automated prescriptions</a:t>
            </a:r>
            <a:r>
              <a:rPr lang="en-US" sz="3366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—</a:t>
            </a:r>
          </a:p>
          <a:p>
            <a:pPr algn="l">
              <a:lnSpc>
                <a:spcPts val="4040"/>
              </a:lnSpc>
            </a:pPr>
            <a:r>
              <a:rPr lang="en-US" sz="3366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reliant on analyst intuition.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2622220" y="5356674"/>
            <a:ext cx="2843828" cy="2787657"/>
          </a:xfrm>
          <a:custGeom>
            <a:avLst/>
            <a:gdLst/>
            <a:ahLst/>
            <a:cxnLst/>
            <a:rect l="l" t="t" r="r" b="b"/>
            <a:pathLst>
              <a:path w="2843828" h="2787657">
                <a:moveTo>
                  <a:pt x="0" y="0"/>
                </a:moveTo>
                <a:lnTo>
                  <a:pt x="2843828" y="0"/>
                </a:lnTo>
                <a:lnTo>
                  <a:pt x="2843828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53252" y="627342"/>
            <a:ext cx="3879748" cy="3879748"/>
          </a:xfrm>
          <a:custGeom>
            <a:avLst/>
            <a:gdLst/>
            <a:ahLst/>
            <a:cxnLst/>
            <a:rect l="l" t="t" r="r" b="b"/>
            <a:pathLst>
              <a:path w="3879748" h="3879748">
                <a:moveTo>
                  <a:pt x="0" y="0"/>
                </a:moveTo>
                <a:lnTo>
                  <a:pt x="3879747" y="0"/>
                </a:lnTo>
                <a:lnTo>
                  <a:pt x="3879747" y="3879748"/>
                </a:lnTo>
                <a:lnTo>
                  <a:pt x="0" y="3879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563964" y="1094919"/>
            <a:ext cx="5617494" cy="2944595"/>
          </a:xfrm>
          <a:custGeom>
            <a:avLst/>
            <a:gdLst/>
            <a:ahLst/>
            <a:cxnLst/>
            <a:rect l="l" t="t" r="r" b="b"/>
            <a:pathLst>
              <a:path w="5617494" h="2944595">
                <a:moveTo>
                  <a:pt x="0" y="0"/>
                </a:moveTo>
                <a:lnTo>
                  <a:pt x="5617494" y="0"/>
                </a:lnTo>
                <a:lnTo>
                  <a:pt x="5617494" y="2944594"/>
                </a:lnTo>
                <a:lnTo>
                  <a:pt x="0" y="294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86201" y="601942"/>
            <a:ext cx="16115598" cy="8432202"/>
          </a:xfrm>
          <a:custGeom>
            <a:avLst/>
            <a:gdLst/>
            <a:ahLst/>
            <a:cxnLst/>
            <a:rect l="l" t="t" r="r" b="b"/>
            <a:pathLst>
              <a:path w="16115598" h="8432202">
                <a:moveTo>
                  <a:pt x="0" y="0"/>
                </a:moveTo>
                <a:lnTo>
                  <a:pt x="16115598" y="0"/>
                </a:lnTo>
                <a:lnTo>
                  <a:pt x="16115598" y="8432202"/>
                </a:lnTo>
                <a:lnTo>
                  <a:pt x="0" y="84322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86201" y="253187"/>
            <a:ext cx="16230600" cy="9129712"/>
          </a:xfrm>
          <a:custGeom>
            <a:avLst/>
            <a:gdLst/>
            <a:ahLst/>
            <a:cxnLst/>
            <a:rect l="l" t="t" r="r" b="b"/>
            <a:pathLst>
              <a:path w="16230600" h="9129712">
                <a:moveTo>
                  <a:pt x="0" y="0"/>
                </a:moveTo>
                <a:lnTo>
                  <a:pt x="16230600" y="0"/>
                </a:lnTo>
                <a:lnTo>
                  <a:pt x="16230600" y="9129712"/>
                </a:lnTo>
                <a:lnTo>
                  <a:pt x="0" y="91297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A662A-CCEC-54F7-7AC5-6C0FFD223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F417176-39FE-5489-D6F4-C3E6CD001C9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1A50D19-D7E8-0543-012B-7C4B2A05CDE5}"/>
              </a:ext>
            </a:extLst>
          </p:cNvPr>
          <p:cNvSpPr/>
          <p:nvPr/>
        </p:nvSpPr>
        <p:spPr>
          <a:xfrm>
            <a:off x="11101866" y="0"/>
            <a:ext cx="1531292" cy="644987"/>
          </a:xfrm>
          <a:custGeom>
            <a:avLst/>
            <a:gdLst/>
            <a:ahLst/>
            <a:cxnLst/>
            <a:rect l="l" t="t" r="r" b="b"/>
            <a:pathLst>
              <a:path w="1531292" h="644987">
                <a:moveTo>
                  <a:pt x="0" y="0"/>
                </a:moveTo>
                <a:lnTo>
                  <a:pt x="1531292" y="0"/>
                </a:lnTo>
                <a:lnTo>
                  <a:pt x="153129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13518C8-2F39-CD5B-1BDC-3AF59A441F09}"/>
              </a:ext>
            </a:extLst>
          </p:cNvPr>
          <p:cNvSpPr/>
          <p:nvPr/>
        </p:nvSpPr>
        <p:spPr>
          <a:xfrm>
            <a:off x="13059732" y="207708"/>
            <a:ext cx="2406316" cy="1300906"/>
          </a:xfrm>
          <a:custGeom>
            <a:avLst/>
            <a:gdLst/>
            <a:ahLst/>
            <a:cxnLst/>
            <a:rect l="l" t="t" r="r" b="b"/>
            <a:pathLst>
              <a:path w="2406316" h="130090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11AFC4A-0FA1-8A5C-ADC5-9928B93BA894}"/>
              </a:ext>
            </a:extLst>
          </p:cNvPr>
          <p:cNvSpPr txBox="1"/>
          <p:nvPr/>
        </p:nvSpPr>
        <p:spPr>
          <a:xfrm>
            <a:off x="6726699" y="4694659"/>
            <a:ext cx="4834602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spc="100" dirty="0">
                <a:solidFill>
                  <a:srgbClr val="EFE7D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CURRENT TOOLS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7D4503-EAC5-6C90-7196-5410F5AC9EDA}"/>
              </a:ext>
            </a:extLst>
          </p:cNvPr>
          <p:cNvSpPr txBox="1"/>
          <p:nvPr/>
        </p:nvSpPr>
        <p:spPr>
          <a:xfrm>
            <a:off x="6858000" y="4823253"/>
            <a:ext cx="5937528" cy="1285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420"/>
              </a:lnSpc>
            </a:pPr>
            <a:r>
              <a:rPr lang="en-US" sz="9914" b="1" spc="198" dirty="0">
                <a:solidFill>
                  <a:srgbClr val="5F9234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CANNOT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9C6F6683-2193-16AB-AD0E-88FDC2F9E868}"/>
              </a:ext>
            </a:extLst>
          </p:cNvPr>
          <p:cNvSpPr txBox="1"/>
          <p:nvPr/>
        </p:nvSpPr>
        <p:spPr>
          <a:xfrm>
            <a:off x="4114800" y="4694659"/>
            <a:ext cx="98298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spc="100" dirty="0">
                <a:solidFill>
                  <a:srgbClr val="EFE7D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SEPARATE STRUCTURAL SIGNAL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C8EA163F-66E1-FE55-3C0A-1AF8B527FB9D}"/>
              </a:ext>
            </a:extLst>
          </p:cNvPr>
          <p:cNvSpPr txBox="1"/>
          <p:nvPr/>
        </p:nvSpPr>
        <p:spPr>
          <a:xfrm>
            <a:off x="3124200" y="4823253"/>
            <a:ext cx="12864451" cy="1285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420"/>
              </a:lnSpc>
            </a:pPr>
            <a:r>
              <a:rPr lang="en-US" sz="9914" b="1" spc="198" dirty="0">
                <a:solidFill>
                  <a:srgbClr val="5F9234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FROM RANDOM NOISE</a:t>
            </a:r>
          </a:p>
        </p:txBody>
      </p:sp>
    </p:spTree>
    <p:extLst>
      <p:ext uri="{BB962C8B-B14F-4D97-AF65-F5344CB8AC3E}">
        <p14:creationId xmlns:p14="http://schemas.microsoft.com/office/powerpoint/2010/main" val="404629395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  <p:bldP spid="9" grpId="0"/>
      <p:bldP spid="9" grpId="1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6DDBB-1B83-1281-DD5B-E9D9CAC77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F2D3FA-C543-E144-ECB3-ED1AB0D610A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CFDA9B3-549B-BF95-473E-A26E4035C792}"/>
              </a:ext>
            </a:extLst>
          </p:cNvPr>
          <p:cNvSpPr/>
          <p:nvPr/>
        </p:nvSpPr>
        <p:spPr>
          <a:xfrm>
            <a:off x="11101866" y="0"/>
            <a:ext cx="1531292" cy="644987"/>
          </a:xfrm>
          <a:custGeom>
            <a:avLst/>
            <a:gdLst/>
            <a:ahLst/>
            <a:cxnLst/>
            <a:rect l="l" t="t" r="r" b="b"/>
            <a:pathLst>
              <a:path w="1531292" h="644987">
                <a:moveTo>
                  <a:pt x="0" y="0"/>
                </a:moveTo>
                <a:lnTo>
                  <a:pt x="1531292" y="0"/>
                </a:lnTo>
                <a:lnTo>
                  <a:pt x="153129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B5D4628-8D8B-F537-2BB3-52F460CAAC36}"/>
              </a:ext>
            </a:extLst>
          </p:cNvPr>
          <p:cNvSpPr/>
          <p:nvPr/>
        </p:nvSpPr>
        <p:spPr>
          <a:xfrm>
            <a:off x="13059732" y="207708"/>
            <a:ext cx="2406316" cy="1300906"/>
          </a:xfrm>
          <a:custGeom>
            <a:avLst/>
            <a:gdLst/>
            <a:ahLst/>
            <a:cxnLst/>
            <a:rect l="l" t="t" r="r" b="b"/>
            <a:pathLst>
              <a:path w="2406316" h="130090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2E33A5D0-38A3-9EA8-CF29-6F61730CFB3C}"/>
              </a:ext>
            </a:extLst>
          </p:cNvPr>
          <p:cNvSpPr txBox="1"/>
          <p:nvPr/>
        </p:nvSpPr>
        <p:spPr>
          <a:xfrm>
            <a:off x="1887999" y="4568312"/>
            <a:ext cx="14512002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spc="100" dirty="0">
                <a:solidFill>
                  <a:srgbClr val="EFE7D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ANALYST ARE FORCED TO RELY ON SUBJECTIVE VISUAL INTUITION</a:t>
            </a:r>
          </a:p>
        </p:txBody>
      </p:sp>
    </p:spTree>
    <p:extLst>
      <p:ext uri="{BB962C8B-B14F-4D97-AF65-F5344CB8AC3E}">
        <p14:creationId xmlns:p14="http://schemas.microsoft.com/office/powerpoint/2010/main" val="170439843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0AA11-283A-451C-29A5-850FD4BC6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7081D0B-8A95-1A47-10F4-273805063A0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C085ED5-D9B3-C8F3-C554-BE7B060EEE13}"/>
              </a:ext>
            </a:extLst>
          </p:cNvPr>
          <p:cNvSpPr/>
          <p:nvPr/>
        </p:nvSpPr>
        <p:spPr>
          <a:xfrm>
            <a:off x="11101866" y="0"/>
            <a:ext cx="1531292" cy="644987"/>
          </a:xfrm>
          <a:custGeom>
            <a:avLst/>
            <a:gdLst/>
            <a:ahLst/>
            <a:cxnLst/>
            <a:rect l="l" t="t" r="r" b="b"/>
            <a:pathLst>
              <a:path w="1531292" h="644987">
                <a:moveTo>
                  <a:pt x="0" y="0"/>
                </a:moveTo>
                <a:lnTo>
                  <a:pt x="1531292" y="0"/>
                </a:lnTo>
                <a:lnTo>
                  <a:pt x="153129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0B31CC4-F8C0-4616-68D0-F629A02D486C}"/>
              </a:ext>
            </a:extLst>
          </p:cNvPr>
          <p:cNvSpPr/>
          <p:nvPr/>
        </p:nvSpPr>
        <p:spPr>
          <a:xfrm>
            <a:off x="13059732" y="207708"/>
            <a:ext cx="2406316" cy="1300906"/>
          </a:xfrm>
          <a:custGeom>
            <a:avLst/>
            <a:gdLst/>
            <a:ahLst/>
            <a:cxnLst/>
            <a:rect l="l" t="t" r="r" b="b"/>
            <a:pathLst>
              <a:path w="2406316" h="130090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BA09A4DB-ED31-C596-D906-CF97459B5D0D}"/>
              </a:ext>
            </a:extLst>
          </p:cNvPr>
          <p:cNvSpPr txBox="1"/>
          <p:nvPr/>
        </p:nvSpPr>
        <p:spPr>
          <a:xfrm>
            <a:off x="1887999" y="4568312"/>
            <a:ext cx="14512002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spc="100" dirty="0">
                <a:solidFill>
                  <a:srgbClr val="EFE7D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DISCOVERING PATTERN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6BE7AFA-D7EF-0A6D-7F6D-9C363EEA21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2150" y="1771650"/>
            <a:ext cx="6743700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06591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01866" y="0"/>
            <a:ext cx="1531292" cy="644987"/>
          </a:xfrm>
          <a:custGeom>
            <a:avLst/>
            <a:gdLst/>
            <a:ahLst/>
            <a:cxnLst/>
            <a:rect l="l" t="t" r="r" b="b"/>
            <a:pathLst>
              <a:path w="1531292" h="644987">
                <a:moveTo>
                  <a:pt x="0" y="0"/>
                </a:moveTo>
                <a:lnTo>
                  <a:pt x="1531292" y="0"/>
                </a:lnTo>
                <a:lnTo>
                  <a:pt x="153129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59732" y="207708"/>
            <a:ext cx="2406316" cy="1300906"/>
          </a:xfrm>
          <a:custGeom>
            <a:avLst/>
            <a:gdLst/>
            <a:ahLst/>
            <a:cxnLst/>
            <a:rect l="l" t="t" r="r" b="b"/>
            <a:pathLst>
              <a:path w="2406316" h="130090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75598" y="2444750"/>
            <a:ext cx="17136804" cy="529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spc="100" dirty="0">
                <a:solidFill>
                  <a:srgbClr val="EFE7D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 I WANT TO TAKE THE EVENT DATA OF A FOOTBALL TEAM, FIND THE PATTERNS IT REPEATS, MEASURE WITH MATHEMATICAL UNCERTAINTY HOW STABLE AND HOW PREDICTABLE THOSE PATTERNS ARE, AND TEST WHETHER THAT PREDICTABILITY COULD BE EXPLOITED BY AN OPPONENT.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01866" y="0"/>
            <a:ext cx="1531292" cy="644987"/>
          </a:xfrm>
          <a:custGeom>
            <a:avLst/>
            <a:gdLst/>
            <a:ahLst/>
            <a:cxnLst/>
            <a:rect l="l" t="t" r="r" b="b"/>
            <a:pathLst>
              <a:path w="1531292" h="644987">
                <a:moveTo>
                  <a:pt x="0" y="0"/>
                </a:moveTo>
                <a:lnTo>
                  <a:pt x="1531292" y="0"/>
                </a:lnTo>
                <a:lnTo>
                  <a:pt x="153129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59732" y="207708"/>
            <a:ext cx="2406316" cy="1300906"/>
          </a:xfrm>
          <a:custGeom>
            <a:avLst/>
            <a:gdLst/>
            <a:ahLst/>
            <a:cxnLst/>
            <a:rect l="l" t="t" r="r" b="b"/>
            <a:pathLst>
              <a:path w="2406316" h="130090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96523" y="4328403"/>
            <a:ext cx="8820379" cy="1263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20"/>
              </a:lnSpc>
            </a:pPr>
            <a:r>
              <a:rPr lang="en-US" sz="9914" b="1" spc="198" dirty="0">
                <a:solidFill>
                  <a:srgbClr val="EFE7D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THE RESEARCH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37949" y="5372100"/>
            <a:ext cx="5937528" cy="1263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20"/>
              </a:lnSpc>
            </a:pPr>
            <a:r>
              <a:rPr lang="en-US" sz="9914" b="1" spc="198" dirty="0">
                <a:solidFill>
                  <a:srgbClr val="5F9234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QUESTION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1473510" y="7623987"/>
            <a:ext cx="5778062" cy="5778062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017336" y="1404620"/>
            <a:ext cx="14717668" cy="746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69"/>
              </a:lnSpc>
            </a:pPr>
            <a:r>
              <a:rPr lang="en-US" sz="6999" b="1" spc="140" dirty="0">
                <a:solidFill>
                  <a:srgbClr val="EFE7D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HOW CAN WE MOVE BEYOND SIMPLY WATCHING A FOOTBALL MATCH, AND INSTEAD MATHEMATICALLY MEASURE THE FREQUENCY, STABILITY, PREDICTABILITY, AND EXPLOITABILITY OF GAME PATTERNS?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31946" y="520337"/>
            <a:ext cx="8420229" cy="93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8"/>
              </a:lnSpc>
            </a:pPr>
            <a:r>
              <a:rPr lang="en-US" sz="6206" b="1">
                <a:solidFill>
                  <a:srgbClr val="DB8534"/>
                </a:solidFill>
                <a:latin typeface="Roboto Bold"/>
                <a:ea typeface="Roboto Bold"/>
                <a:cs typeface="Roboto Bold"/>
                <a:sym typeface="Roboto Bold"/>
              </a:rPr>
              <a:t>The Research Question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1497682"/>
            <a:ext cx="17216096" cy="2361309"/>
          </a:xfrm>
          <a:custGeom>
            <a:avLst/>
            <a:gdLst/>
            <a:ahLst/>
            <a:cxnLst/>
            <a:rect l="l" t="t" r="r" b="b"/>
            <a:pathLst>
              <a:path w="17216096" h="2361309">
                <a:moveTo>
                  <a:pt x="0" y="0"/>
                </a:moveTo>
                <a:lnTo>
                  <a:pt x="17216096" y="0"/>
                </a:lnTo>
                <a:lnTo>
                  <a:pt x="1721609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30016" y="1830630"/>
            <a:ext cx="13330202" cy="1615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616" b="1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How can we move beyond simply watching a football match, and instead mathematically measure the frequency, stability, predictability, and exploitability of game patterns?</a:t>
            </a:r>
          </a:p>
        </p:txBody>
      </p:sp>
      <p:sp>
        <p:nvSpPr>
          <p:cNvPr id="6" name="Freeform 6"/>
          <p:cNvSpPr/>
          <p:nvPr/>
        </p:nvSpPr>
        <p:spPr>
          <a:xfrm>
            <a:off x="426574" y="3848060"/>
            <a:ext cx="5676718" cy="3662216"/>
          </a:xfrm>
          <a:custGeom>
            <a:avLst/>
            <a:gdLst/>
            <a:ahLst/>
            <a:cxnLst/>
            <a:rect l="l" t="t" r="r" b="b"/>
            <a:pathLst>
              <a:path w="5676718" h="3662216">
                <a:moveTo>
                  <a:pt x="0" y="0"/>
                </a:moveTo>
                <a:lnTo>
                  <a:pt x="5676718" y="0"/>
                </a:lnTo>
                <a:lnTo>
                  <a:pt x="5676718" y="3662215"/>
                </a:lnTo>
                <a:lnTo>
                  <a:pt x="0" y="36622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821952" y="4066699"/>
            <a:ext cx="885962" cy="1082267"/>
          </a:xfrm>
          <a:custGeom>
            <a:avLst/>
            <a:gdLst/>
            <a:ahLst/>
            <a:cxnLst/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503228" y="5128954"/>
            <a:ext cx="1529540" cy="49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1"/>
              </a:lnSpc>
            </a:pPr>
            <a:r>
              <a:rPr lang="en-US" sz="3234" b="1" spc="-31" dirty="0">
                <a:solidFill>
                  <a:srgbClr val="DB8534"/>
                </a:solidFill>
                <a:latin typeface="Roboto Bold"/>
                <a:ea typeface="Roboto Bold"/>
                <a:cs typeface="Roboto Bold"/>
                <a:sym typeface="Roboto Bold"/>
              </a:rPr>
              <a:t>Stability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5557" y="5808055"/>
            <a:ext cx="3884881" cy="1132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spc="-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If I repeat the analysis on slightly different data,</a:t>
            </a:r>
          </a:p>
          <a:p>
            <a:pPr algn="ctr">
              <a:lnSpc>
                <a:spcPts val="3055"/>
              </a:lnSpc>
            </a:pPr>
            <a:r>
              <a:rPr lang="en-US" sz="2351" spc="-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does the pattern come back?</a:t>
            </a:r>
          </a:p>
        </p:txBody>
      </p:sp>
      <p:sp>
        <p:nvSpPr>
          <p:cNvPr id="10" name="Freeform 10"/>
          <p:cNvSpPr/>
          <p:nvPr/>
        </p:nvSpPr>
        <p:spPr>
          <a:xfrm>
            <a:off x="6092354" y="3848060"/>
            <a:ext cx="5665780" cy="3662216"/>
          </a:xfrm>
          <a:custGeom>
            <a:avLst/>
            <a:gdLst/>
            <a:ahLst/>
            <a:cxnLst/>
            <a:rect l="l" t="t" r="r" b="b"/>
            <a:pathLst>
              <a:path w="5665780" h="3662216">
                <a:moveTo>
                  <a:pt x="0" y="0"/>
                </a:moveTo>
                <a:lnTo>
                  <a:pt x="5665780" y="0"/>
                </a:lnTo>
                <a:lnTo>
                  <a:pt x="5665780" y="3662215"/>
                </a:lnTo>
                <a:lnTo>
                  <a:pt x="0" y="36622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487732" y="4066699"/>
            <a:ext cx="875024" cy="1082267"/>
          </a:xfrm>
          <a:custGeom>
            <a:avLst/>
            <a:gdLst/>
            <a:ahLst/>
            <a:cxnLst/>
            <a:rect l="l" t="t" r="r" b="b"/>
            <a:pathLst>
              <a:path w="875024" h="1082267">
                <a:moveTo>
                  <a:pt x="0" y="0"/>
                </a:moveTo>
                <a:lnTo>
                  <a:pt x="875024" y="0"/>
                </a:lnTo>
                <a:lnTo>
                  <a:pt x="87502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631399" y="5128954"/>
            <a:ext cx="2480134" cy="49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1"/>
              </a:lnSpc>
            </a:pPr>
            <a:r>
              <a:rPr lang="en-US" sz="3234" b="1" spc="-31">
                <a:solidFill>
                  <a:srgbClr val="DB8534"/>
                </a:solidFill>
                <a:latin typeface="Roboto Bold"/>
                <a:ea typeface="Roboto Bold"/>
                <a:cs typeface="Roboto Bold"/>
                <a:sym typeface="Roboto Bold"/>
              </a:rPr>
              <a:t>Predictability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40460" y="5808055"/>
            <a:ext cx="4862011" cy="1132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spc="-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Given the situation, how well can</a:t>
            </a:r>
          </a:p>
          <a:p>
            <a:pPr algn="ctr">
              <a:lnSpc>
                <a:spcPts val="3055"/>
              </a:lnSpc>
            </a:pPr>
            <a:r>
              <a:rPr lang="en-US" sz="2351" spc="-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 guess what the team will do next, compared with a very simple guess?</a:t>
            </a:r>
          </a:p>
        </p:txBody>
      </p:sp>
      <p:sp>
        <p:nvSpPr>
          <p:cNvPr id="14" name="Freeform 14"/>
          <p:cNvSpPr/>
          <p:nvPr/>
        </p:nvSpPr>
        <p:spPr>
          <a:xfrm>
            <a:off x="11747196" y="3848060"/>
            <a:ext cx="5895474" cy="3662216"/>
          </a:xfrm>
          <a:custGeom>
            <a:avLst/>
            <a:gdLst/>
            <a:ahLst/>
            <a:cxnLst/>
            <a:rect l="l" t="t" r="r" b="b"/>
            <a:pathLst>
              <a:path w="5895474" h="3662216">
                <a:moveTo>
                  <a:pt x="0" y="0"/>
                </a:moveTo>
                <a:lnTo>
                  <a:pt x="5895474" y="0"/>
                </a:lnTo>
                <a:lnTo>
                  <a:pt x="5895474" y="3662215"/>
                </a:lnTo>
                <a:lnTo>
                  <a:pt x="0" y="36622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142574" y="4066699"/>
            <a:ext cx="885962" cy="1082267"/>
          </a:xfrm>
          <a:custGeom>
            <a:avLst/>
            <a:gdLst/>
            <a:ahLst/>
            <a:cxnLst/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356534" y="5128954"/>
            <a:ext cx="2407713" cy="49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1"/>
              </a:lnSpc>
            </a:pPr>
            <a:r>
              <a:rPr lang="en-US" sz="3234" b="1" spc="-31">
                <a:solidFill>
                  <a:srgbClr val="DB8534"/>
                </a:solidFill>
                <a:latin typeface="Roboto Bold"/>
                <a:ea typeface="Roboto Bold"/>
                <a:cs typeface="Roboto Bold"/>
                <a:sym typeface="Roboto Bold"/>
              </a:rPr>
              <a:t>Exploitability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30118" y="5808055"/>
            <a:ext cx="3660546" cy="1132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sz="2351" spc="-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If a defence knew the habit,</a:t>
            </a:r>
          </a:p>
          <a:p>
            <a:pPr algn="ctr">
              <a:lnSpc>
                <a:spcPts val="3055"/>
              </a:lnSpc>
            </a:pPr>
            <a:r>
              <a:rPr lang="en-US" sz="2351" spc="-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how much would it gain</a:t>
            </a:r>
          </a:p>
          <a:p>
            <a:pPr algn="ctr">
              <a:lnSpc>
                <a:spcPts val="3055"/>
              </a:lnSpc>
            </a:pPr>
            <a:r>
              <a:rPr lang="en-US" sz="2351" spc="-22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in expected goals?</a:t>
            </a:r>
          </a:p>
        </p:txBody>
      </p:sp>
      <p:sp>
        <p:nvSpPr>
          <p:cNvPr id="18" name="Freeform 18"/>
          <p:cNvSpPr/>
          <p:nvPr/>
        </p:nvSpPr>
        <p:spPr>
          <a:xfrm>
            <a:off x="426574" y="7707051"/>
            <a:ext cx="4582938" cy="874559"/>
          </a:xfrm>
          <a:custGeom>
            <a:avLst/>
            <a:gdLst/>
            <a:ahLst/>
            <a:cxnLst/>
            <a:rect l="l" t="t" r="r" b="b"/>
            <a:pathLst>
              <a:path w="4582938" h="874559">
                <a:moveTo>
                  <a:pt x="0" y="0"/>
                </a:moveTo>
                <a:lnTo>
                  <a:pt x="4582938" y="0"/>
                </a:lnTo>
                <a:lnTo>
                  <a:pt x="458293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056922" y="7915210"/>
            <a:ext cx="1529540" cy="49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1"/>
              </a:lnSpc>
            </a:pPr>
            <a:r>
              <a:rPr lang="en-US" sz="3234" b="1" spc="-31">
                <a:solidFill>
                  <a:srgbClr val="769B4B"/>
                </a:solidFill>
                <a:latin typeface="Roboto Bold"/>
                <a:ea typeface="Roboto Bold"/>
                <a:cs typeface="Roboto Bold"/>
                <a:sym typeface="Roboto Bold"/>
              </a:rPr>
              <a:t>Stability</a:t>
            </a:r>
          </a:p>
        </p:txBody>
      </p:sp>
      <p:sp>
        <p:nvSpPr>
          <p:cNvPr id="20" name="Freeform 20"/>
          <p:cNvSpPr/>
          <p:nvPr/>
        </p:nvSpPr>
        <p:spPr>
          <a:xfrm>
            <a:off x="4998574" y="7925691"/>
            <a:ext cx="1542230" cy="437279"/>
          </a:xfrm>
          <a:custGeom>
            <a:avLst/>
            <a:gdLst/>
            <a:ahLst/>
            <a:cxnLst/>
            <a:rect l="l" t="t" r="r" b="b"/>
            <a:pathLst>
              <a:path w="1542230" h="437279">
                <a:moveTo>
                  <a:pt x="0" y="0"/>
                </a:moveTo>
                <a:lnTo>
                  <a:pt x="1542230" y="0"/>
                </a:lnTo>
                <a:lnTo>
                  <a:pt x="154223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529866" y="7707051"/>
            <a:ext cx="4801694" cy="874559"/>
          </a:xfrm>
          <a:custGeom>
            <a:avLst/>
            <a:gdLst/>
            <a:ahLst/>
            <a:cxnLst/>
            <a:rect l="l" t="t" r="r" b="b"/>
            <a:pathLst>
              <a:path w="4801694" h="874559">
                <a:moveTo>
                  <a:pt x="0" y="0"/>
                </a:moveTo>
                <a:lnTo>
                  <a:pt x="4801694" y="0"/>
                </a:lnTo>
                <a:lnTo>
                  <a:pt x="4801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631399" y="7915210"/>
            <a:ext cx="2480134" cy="49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1"/>
              </a:lnSpc>
            </a:pPr>
            <a:r>
              <a:rPr lang="en-US" sz="3234" b="1" spc="-31">
                <a:solidFill>
                  <a:srgbClr val="769B4B"/>
                </a:solidFill>
                <a:latin typeface="Roboto Bold"/>
                <a:ea typeface="Roboto Bold"/>
                <a:cs typeface="Roboto Bold"/>
                <a:sym typeface="Roboto Bold"/>
              </a:rPr>
              <a:t>Predictability</a:t>
            </a:r>
          </a:p>
        </p:txBody>
      </p:sp>
      <p:sp>
        <p:nvSpPr>
          <p:cNvPr id="23" name="Freeform 23"/>
          <p:cNvSpPr/>
          <p:nvPr/>
        </p:nvSpPr>
        <p:spPr>
          <a:xfrm>
            <a:off x="11320622" y="7925691"/>
            <a:ext cx="1531292" cy="437279"/>
          </a:xfrm>
          <a:custGeom>
            <a:avLst/>
            <a:gdLst/>
            <a:ahLst/>
            <a:cxnLst/>
            <a:rect l="l" t="t" r="r" b="b"/>
            <a:pathLst>
              <a:path w="1531292" h="437279">
                <a:moveTo>
                  <a:pt x="0" y="0"/>
                </a:moveTo>
                <a:lnTo>
                  <a:pt x="1531292" y="0"/>
                </a:lnTo>
                <a:lnTo>
                  <a:pt x="153129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2840976" y="7707051"/>
            <a:ext cx="4801694" cy="874559"/>
          </a:xfrm>
          <a:custGeom>
            <a:avLst/>
            <a:gdLst/>
            <a:ahLst/>
            <a:cxnLst/>
            <a:rect l="l" t="t" r="r" b="b"/>
            <a:pathLst>
              <a:path w="4801694" h="874559">
                <a:moveTo>
                  <a:pt x="0" y="0"/>
                </a:moveTo>
                <a:lnTo>
                  <a:pt x="4801694" y="0"/>
                </a:lnTo>
                <a:lnTo>
                  <a:pt x="4801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3829094" y="7915210"/>
            <a:ext cx="2407713" cy="49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1"/>
              </a:lnSpc>
            </a:pPr>
            <a:r>
              <a:rPr lang="en-US" sz="3234" b="1" spc="-31">
                <a:solidFill>
                  <a:srgbClr val="769B4B"/>
                </a:solidFill>
                <a:latin typeface="Roboto Bold"/>
                <a:ea typeface="Roboto Bold"/>
                <a:cs typeface="Roboto Bold"/>
                <a:sym typeface="Roboto Bold"/>
              </a:rPr>
              <a:t>Exploitability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202712" y="8929822"/>
            <a:ext cx="11184808" cy="84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759" dirty="0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Each measure rests on the previous one.</a:t>
            </a:r>
          </a:p>
          <a:p>
            <a:pPr algn="ctr">
              <a:lnSpc>
                <a:spcPts val="3312"/>
              </a:lnSpc>
            </a:pPr>
            <a:r>
              <a:rPr lang="en-US" sz="2759" dirty="0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If a pattern is not stable, measuring its predictability makes no sense.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  <p:bldP spid="16" grpId="0"/>
      <p:bldP spid="17" grpId="0"/>
      <p:bldP spid="19" grpId="0"/>
      <p:bldP spid="22" grpId="0"/>
      <p:bldP spid="25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6139" y="673393"/>
            <a:ext cx="4964188" cy="101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sz="7682" b="1" spc="153">
                <a:solidFill>
                  <a:srgbClr val="F0E9D9"/>
                </a:solidFill>
                <a:latin typeface="Anantason Condensed Heavy"/>
                <a:ea typeface="Anantason Condensed Heavy"/>
                <a:cs typeface="Anantason Condensed Heavy"/>
                <a:sym typeface="Anantason Condensed Heavy"/>
              </a:rPr>
              <a:t>TOWARDS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1248" y="1607165"/>
            <a:ext cx="12453296" cy="101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sz="7682" b="1" spc="153">
                <a:solidFill>
                  <a:srgbClr val="709B46"/>
                </a:solidFill>
                <a:latin typeface="Anantason Condensed Heavy"/>
                <a:ea typeface="Anantason Condensed Heavy"/>
                <a:cs typeface="Anantason Condensed Heavy"/>
                <a:sym typeface="Anantason Condensed Heavy"/>
              </a:rPr>
              <a:t>PRESCRIPTIVE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9359" y="2804528"/>
            <a:ext cx="6295430" cy="78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spc="-22">
                <a:solidFill>
                  <a:srgbClr val="F0E9D9"/>
                </a:solidFill>
                <a:latin typeface="Roboto"/>
                <a:ea typeface="Roboto"/>
                <a:cs typeface="Roboto"/>
                <a:sym typeface="Roboto"/>
              </a:rPr>
              <a:t>A bipartite AI engine that separates dynamic play from static situations to deliver optimal solutions.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9359" y="4535766"/>
            <a:ext cx="3509367" cy="11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b="1" spc="-21">
                <a:solidFill>
                  <a:srgbClr val="709B46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Dynamic patterns</a:t>
            </a:r>
          </a:p>
          <a:p>
            <a:pPr algn="l">
              <a:lnSpc>
                <a:spcPts val="3063"/>
              </a:lnSpc>
            </a:pPr>
            <a:r>
              <a:rPr lang="en-US" sz="2188" spc="-21">
                <a:solidFill>
                  <a:srgbClr val="F0E9D9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learned automatically</a:t>
            </a:r>
          </a:p>
          <a:p>
            <a:pPr algn="l">
              <a:lnSpc>
                <a:spcPts val="3063"/>
              </a:lnSpc>
            </a:pPr>
            <a:r>
              <a:rPr lang="en-US" sz="2188" spc="-21">
                <a:solidFill>
                  <a:srgbClr val="F0E9D9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from open spatial data.</a:t>
            </a:r>
          </a:p>
        </p:txBody>
      </p:sp>
      <p:sp>
        <p:nvSpPr>
          <p:cNvPr id="7" name="Freeform 7"/>
          <p:cNvSpPr/>
          <p:nvPr/>
        </p:nvSpPr>
        <p:spPr>
          <a:xfrm>
            <a:off x="426574" y="5990729"/>
            <a:ext cx="3281340" cy="229572"/>
          </a:xfrm>
          <a:custGeom>
            <a:avLst/>
            <a:gdLst/>
            <a:ahLst/>
            <a:cxnLst/>
            <a:rect l="l" t="t" r="r" b="b"/>
            <a:pathLst>
              <a:path w="3281340" h="229572">
                <a:moveTo>
                  <a:pt x="0" y="0"/>
                </a:moveTo>
                <a:lnTo>
                  <a:pt x="3281340" y="0"/>
                </a:lnTo>
                <a:lnTo>
                  <a:pt x="328134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89359" y="6418371"/>
            <a:ext cx="3509367" cy="11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spc="-21">
                <a:solidFill>
                  <a:srgbClr val="709B46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Game theory </a:t>
            </a:r>
            <a:r>
              <a:rPr lang="en-US" sz="2188" spc="-21">
                <a:solidFill>
                  <a:srgbClr val="F0E9D9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prescribes</a:t>
            </a:r>
          </a:p>
          <a:p>
            <a:pPr algn="l">
              <a:lnSpc>
                <a:spcPts val="3063"/>
              </a:lnSpc>
            </a:pPr>
            <a:r>
              <a:rPr lang="en-US" sz="2188" spc="-21">
                <a:solidFill>
                  <a:srgbClr val="F0E9D9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the best expected-goal countermeasures.</a:t>
            </a:r>
          </a:p>
        </p:txBody>
      </p:sp>
      <p:sp>
        <p:nvSpPr>
          <p:cNvPr id="9" name="Freeform 9"/>
          <p:cNvSpPr/>
          <p:nvPr/>
        </p:nvSpPr>
        <p:spPr>
          <a:xfrm>
            <a:off x="426574" y="7707051"/>
            <a:ext cx="3281340" cy="229572"/>
          </a:xfrm>
          <a:custGeom>
            <a:avLst/>
            <a:gdLst/>
            <a:ahLst/>
            <a:cxnLst/>
            <a:rect l="l" t="t" r="r" b="b"/>
            <a:pathLst>
              <a:path w="3281340" h="229572">
                <a:moveTo>
                  <a:pt x="0" y="0"/>
                </a:moveTo>
                <a:lnTo>
                  <a:pt x="3281340" y="0"/>
                </a:lnTo>
                <a:lnTo>
                  <a:pt x="328134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89359" y="8270854"/>
            <a:ext cx="3509367" cy="11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spc="-21" dirty="0">
                <a:solidFill>
                  <a:srgbClr val="F0E9D9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From qualitative insights</a:t>
            </a:r>
          </a:p>
          <a:p>
            <a:pPr algn="l">
              <a:lnSpc>
                <a:spcPts val="3063"/>
              </a:lnSpc>
            </a:pPr>
            <a:r>
              <a:rPr lang="en-US" sz="2188" spc="-21" dirty="0">
                <a:solidFill>
                  <a:srgbClr val="F0E9D9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to uncertainty metrics and </a:t>
            </a:r>
            <a:r>
              <a:rPr lang="en-US" sz="2188" spc="-21" dirty="0">
                <a:solidFill>
                  <a:srgbClr val="709B46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tactical payoff optimization.</a:t>
            </a:r>
          </a:p>
        </p:txBody>
      </p:sp>
      <p:sp>
        <p:nvSpPr>
          <p:cNvPr id="11" name="Freeform 11"/>
          <p:cNvSpPr/>
          <p:nvPr/>
        </p:nvSpPr>
        <p:spPr>
          <a:xfrm>
            <a:off x="9351818" y="2569017"/>
            <a:ext cx="5676718" cy="1508614"/>
          </a:xfrm>
          <a:custGeom>
            <a:avLst/>
            <a:gdLst/>
            <a:ahLst/>
            <a:cxnLst/>
            <a:rect l="l" t="t" r="r" b="b"/>
            <a:pathLst>
              <a:path w="5676718" h="1508614">
                <a:moveTo>
                  <a:pt x="0" y="0"/>
                </a:moveTo>
                <a:lnTo>
                  <a:pt x="5676718" y="0"/>
                </a:lnTo>
                <a:lnTo>
                  <a:pt x="567671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235316" y="3012589"/>
            <a:ext cx="1860267" cy="39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sz="3032" b="1" spc="-29">
                <a:solidFill>
                  <a:srgbClr val="F0E9D9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AI ENGINE</a:t>
            </a:r>
          </a:p>
        </p:txBody>
      </p:sp>
      <p:sp>
        <p:nvSpPr>
          <p:cNvPr id="13" name="Freeform 13"/>
          <p:cNvSpPr/>
          <p:nvPr/>
        </p:nvSpPr>
        <p:spPr>
          <a:xfrm>
            <a:off x="8706488" y="3848060"/>
            <a:ext cx="6759560" cy="1082267"/>
          </a:xfrm>
          <a:custGeom>
            <a:avLst/>
            <a:gdLst/>
            <a:ahLst/>
            <a:cxnLst/>
            <a:rect l="l" t="t" r="r" b="b"/>
            <a:pathLst>
              <a:path w="6759560" h="1082267">
                <a:moveTo>
                  <a:pt x="0" y="0"/>
                </a:moveTo>
                <a:lnTo>
                  <a:pt x="6759560" y="0"/>
                </a:lnTo>
                <a:lnTo>
                  <a:pt x="6759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311110" y="4711687"/>
            <a:ext cx="5228268" cy="2798589"/>
          </a:xfrm>
          <a:custGeom>
            <a:avLst/>
            <a:gdLst/>
            <a:ahLst/>
            <a:cxnLst/>
            <a:rect l="l" t="t" r="r" b="b"/>
            <a:pathLst>
              <a:path w="5228268" h="2798589">
                <a:moveTo>
                  <a:pt x="0" y="0"/>
                </a:moveTo>
                <a:lnTo>
                  <a:pt x="5228268" y="0"/>
                </a:lnTo>
                <a:lnTo>
                  <a:pt x="5228268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126734" y="5202058"/>
            <a:ext cx="3669488" cy="2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2179" b="1" spc="-21">
                <a:solidFill>
                  <a:srgbClr val="F0E9D9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L2 DYNAMIC PLAY MODULE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18734" y="5638021"/>
            <a:ext cx="3964781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 spc="-23">
                <a:solidFill>
                  <a:srgbClr val="709B46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Game Dynamics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61631" y="6163590"/>
            <a:ext cx="2806122" cy="945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8"/>
              </a:lnSpc>
            </a:pPr>
            <a:r>
              <a:rPr lang="en-US" sz="1863" spc="-18">
                <a:solidFill>
                  <a:srgbClr val="FFFFFF">
                    <a:alpha val="80000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Automatic tactical-pattern</a:t>
            </a:r>
          </a:p>
          <a:p>
            <a:pPr algn="ctr">
              <a:lnSpc>
                <a:spcPts val="2608"/>
              </a:lnSpc>
            </a:pPr>
            <a:r>
              <a:rPr lang="en-US" sz="1863" spc="-18">
                <a:solidFill>
                  <a:srgbClr val="FFFFFF">
                    <a:alpha val="80000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discovery and</a:t>
            </a:r>
          </a:p>
          <a:p>
            <a:pPr algn="ctr">
              <a:lnSpc>
                <a:spcPts val="2608"/>
              </a:lnSpc>
            </a:pPr>
            <a:r>
              <a:rPr lang="en-US" sz="1863" spc="-18">
                <a:solidFill>
                  <a:srgbClr val="FFFFFF">
                    <a:alpha val="80000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predictability estimation.</a:t>
            </a:r>
          </a:p>
        </p:txBody>
      </p:sp>
      <p:sp>
        <p:nvSpPr>
          <p:cNvPr id="18" name="Freeform 18"/>
          <p:cNvSpPr/>
          <p:nvPr/>
        </p:nvSpPr>
        <p:spPr>
          <a:xfrm>
            <a:off x="8706488" y="7280704"/>
            <a:ext cx="437512" cy="655919"/>
          </a:xfrm>
          <a:custGeom>
            <a:avLst/>
            <a:gdLst/>
            <a:ahLst/>
            <a:cxnLst/>
            <a:rect l="l" t="t" r="r" b="b"/>
            <a:pathLst>
              <a:path w="437512" h="655919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311110" y="7925691"/>
            <a:ext cx="5228268" cy="863627"/>
          </a:xfrm>
          <a:custGeom>
            <a:avLst/>
            <a:gdLst/>
            <a:ahLst/>
            <a:cxnLst/>
            <a:rect l="l" t="t" r="r" b="b"/>
            <a:pathLst>
              <a:path w="5228268" h="863627">
                <a:moveTo>
                  <a:pt x="0" y="0"/>
                </a:moveTo>
                <a:lnTo>
                  <a:pt x="5228268" y="0"/>
                </a:lnTo>
                <a:lnTo>
                  <a:pt x="522826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537820" y="8179095"/>
            <a:ext cx="2847315" cy="252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sz="1916" b="1" spc="-18">
                <a:solidFill>
                  <a:srgbClr val="709B46">
                    <a:alpha val="80000"/>
                  </a:srgbClr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PATTERN PROBABILITIES</a:t>
            </a:r>
          </a:p>
        </p:txBody>
      </p:sp>
      <p:sp>
        <p:nvSpPr>
          <p:cNvPr id="21" name="Freeform 21"/>
          <p:cNvSpPr/>
          <p:nvPr/>
        </p:nvSpPr>
        <p:spPr>
          <a:xfrm>
            <a:off x="12622220" y="4711687"/>
            <a:ext cx="5239206" cy="2798589"/>
          </a:xfrm>
          <a:custGeom>
            <a:avLst/>
            <a:gdLst/>
            <a:ahLst/>
            <a:cxnLst/>
            <a:rect l="l" t="t" r="r" b="b"/>
            <a:pathLst>
              <a:path w="5239206" h="2798589">
                <a:moveTo>
                  <a:pt x="0" y="0"/>
                </a:moveTo>
                <a:lnTo>
                  <a:pt x="5239206" y="0"/>
                </a:lnTo>
                <a:lnTo>
                  <a:pt x="5239206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3690295" y="5202058"/>
            <a:ext cx="3012137" cy="27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2179" b="1" spc="-21">
                <a:solidFill>
                  <a:srgbClr val="F0E9D9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L3 SET-PIECE MODULE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179761" y="6163590"/>
            <a:ext cx="4042849" cy="945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8"/>
              </a:lnSpc>
            </a:pPr>
            <a:r>
              <a:rPr lang="en-US" sz="1863" spc="-18">
                <a:solidFill>
                  <a:srgbClr val="FFFFFF">
                    <a:alpha val="80000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Game Theory application</a:t>
            </a:r>
          </a:p>
          <a:p>
            <a:pPr algn="ctr">
              <a:lnSpc>
                <a:spcPts val="2608"/>
              </a:lnSpc>
            </a:pPr>
            <a:r>
              <a:rPr lang="en-US" sz="1863" spc="-18">
                <a:solidFill>
                  <a:srgbClr val="FFFFFF">
                    <a:alpha val="80000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prescribing optimal</a:t>
            </a:r>
          </a:p>
          <a:p>
            <a:pPr algn="ctr">
              <a:lnSpc>
                <a:spcPts val="2608"/>
              </a:lnSpc>
            </a:pPr>
            <a:r>
              <a:rPr lang="en-US" sz="1863" spc="-18">
                <a:solidFill>
                  <a:srgbClr val="FFFFFF">
                    <a:alpha val="80000"/>
                  </a:srgbClr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expected-goal (xG) countermeasures.</a:t>
            </a:r>
          </a:p>
        </p:txBody>
      </p:sp>
      <p:sp>
        <p:nvSpPr>
          <p:cNvPr id="24" name="Freeform 24"/>
          <p:cNvSpPr/>
          <p:nvPr/>
        </p:nvSpPr>
        <p:spPr>
          <a:xfrm>
            <a:off x="15017598" y="7280704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2622220" y="7925691"/>
            <a:ext cx="5239206" cy="863627"/>
          </a:xfrm>
          <a:custGeom>
            <a:avLst/>
            <a:gdLst/>
            <a:ahLst/>
            <a:cxnLst/>
            <a:rect l="l" t="t" r="r" b="b"/>
            <a:pathLst>
              <a:path w="5239206" h="863627">
                <a:moveTo>
                  <a:pt x="0" y="0"/>
                </a:moveTo>
                <a:lnTo>
                  <a:pt x="5239206" y="0"/>
                </a:lnTo>
                <a:lnTo>
                  <a:pt x="5239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3076942" y="8174468"/>
            <a:ext cx="4238842" cy="26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2047" b="1" spc="-19">
                <a:solidFill>
                  <a:srgbClr val="709B46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PRESCRIBED COUNTERMEASURES</a:t>
            </a:r>
          </a:p>
        </p:txBody>
      </p:sp>
      <p:sp>
        <p:nvSpPr>
          <p:cNvPr id="27" name="Freeform 27"/>
          <p:cNvSpPr/>
          <p:nvPr/>
        </p:nvSpPr>
        <p:spPr>
          <a:xfrm>
            <a:off x="8925244" y="8570678"/>
            <a:ext cx="6540804" cy="863627"/>
          </a:xfrm>
          <a:custGeom>
            <a:avLst/>
            <a:gdLst/>
            <a:ahLst/>
            <a:cxnLst/>
            <a:rect l="l" t="t" r="r" b="b"/>
            <a:pathLst>
              <a:path w="6540804" h="863627">
                <a:moveTo>
                  <a:pt x="0" y="0"/>
                </a:moveTo>
                <a:lnTo>
                  <a:pt x="6540804" y="0"/>
                </a:lnTo>
                <a:lnTo>
                  <a:pt x="654080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7175196" y="9204733"/>
            <a:ext cx="9811206" cy="874559"/>
          </a:xfrm>
          <a:custGeom>
            <a:avLst/>
            <a:gdLst/>
            <a:ahLst/>
            <a:cxnLst/>
            <a:rect l="l" t="t" r="r" b="b"/>
            <a:pathLst>
              <a:path w="9811206" h="874559">
                <a:moveTo>
                  <a:pt x="0" y="0"/>
                </a:moveTo>
                <a:lnTo>
                  <a:pt x="9811206" y="0"/>
                </a:lnTo>
                <a:lnTo>
                  <a:pt x="981120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9898110" y="9514883"/>
            <a:ext cx="4250176" cy="26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sz="2047" b="1" spc="-19">
                <a:solidFill>
                  <a:srgbClr val="709B46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TACTICAL PAYOFF OPTIMIZATION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77114" y="3490658"/>
            <a:ext cx="3576670" cy="19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1" spc="-15">
                <a:solidFill>
                  <a:srgbClr val="709B46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BIPARTITE MATHEMATICAL ENGINE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912328" y="5638021"/>
            <a:ext cx="4661297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 b="1" spc="-23">
                <a:solidFill>
                  <a:srgbClr val="709B46"/>
                </a:solidFill>
                <a:latin typeface="Anantason Condensed Medium"/>
                <a:ea typeface="Anantason Condensed Medium"/>
                <a:cs typeface="Anantason Condensed Medium"/>
                <a:sym typeface="Anantason Condensed Medium"/>
              </a:rPr>
              <a:t>Static Situations</a:t>
            </a:r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50BA4-FDCE-0B38-04B5-C525583B3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7C4836D-3ABA-130B-9105-16B4C3613F2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E30DC8A-F5C6-DD09-A35E-D06BA7226305}"/>
              </a:ext>
            </a:extLst>
          </p:cNvPr>
          <p:cNvSpPr txBox="1"/>
          <p:nvPr/>
        </p:nvSpPr>
        <p:spPr>
          <a:xfrm>
            <a:off x="1090648" y="571500"/>
            <a:ext cx="15899000" cy="55879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it-IT" sz="9078" b="1" spc="181" dirty="0">
                <a:solidFill>
                  <a:srgbClr val="679840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A SEQUENCE IS A CHAIN OF PASSES AND CARRIES BY THE SAME TEAM WITHIN ONE POSSESSION</a:t>
            </a:r>
            <a:endParaRPr lang="en-US" sz="9078" b="1" spc="181" dirty="0">
              <a:solidFill>
                <a:srgbClr val="679840"/>
              </a:solidFill>
              <a:latin typeface="Anantason Condensed Bold"/>
              <a:ea typeface="Anantason Condensed Bold"/>
              <a:cs typeface="Anantason Condensed Bold"/>
              <a:sym typeface="Anantason Condensed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4A6D8E6-0B7C-4B7A-8DB1-DCCE45F6D580}"/>
              </a:ext>
            </a:extLst>
          </p:cNvPr>
          <p:cNvSpPr txBox="1"/>
          <p:nvPr/>
        </p:nvSpPr>
        <p:spPr>
          <a:xfrm>
            <a:off x="1065627" y="7572228"/>
            <a:ext cx="4061871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dirty="0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AT LEAST 3 PASSES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497D924-2659-6646-F62C-F93739AF6D07}"/>
              </a:ext>
            </a:extLst>
          </p:cNvPr>
          <p:cNvSpPr txBox="1"/>
          <p:nvPr/>
        </p:nvSpPr>
        <p:spPr>
          <a:xfrm>
            <a:off x="7906003" y="7846546"/>
            <a:ext cx="2268289" cy="753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11500" dirty="0">
                <a:solidFill>
                  <a:srgbClr val="679840"/>
                </a:solidFill>
                <a:latin typeface="Roboto"/>
                <a:ea typeface="Roboto"/>
                <a:cs typeface="Roboto"/>
                <a:sym typeface="Roboto"/>
              </a:rPr>
              <a:t>-&gt;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3D869CD-7A16-DDC2-30F6-C27385A497A5}"/>
              </a:ext>
            </a:extLst>
          </p:cNvPr>
          <p:cNvSpPr txBox="1"/>
          <p:nvPr/>
        </p:nvSpPr>
        <p:spPr>
          <a:xfrm>
            <a:off x="11734800" y="7574503"/>
            <a:ext cx="5815976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dirty="0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1170 SEQUENCES PER TEAM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AB3E4B1-60DA-F6C7-651D-6A522779CA7F}"/>
              </a:ext>
            </a:extLst>
          </p:cNvPr>
          <p:cNvSpPr txBox="1"/>
          <p:nvPr/>
        </p:nvSpPr>
        <p:spPr>
          <a:xfrm>
            <a:off x="1091785" y="1023101"/>
            <a:ext cx="41217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7"/>
              </a:lnSpc>
            </a:pPr>
            <a:endParaRPr lang="en-US" sz="2759" b="1" spc="-26" dirty="0">
              <a:solidFill>
                <a:srgbClr val="090F0C"/>
              </a:solidFill>
              <a:latin typeface="Anantason Condensed Bold"/>
              <a:ea typeface="Anantason Condensed Bold"/>
              <a:cs typeface="Anantason Condensed Bold"/>
              <a:sym typeface="Anantason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61745544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BD07C-8EFA-9BAF-DB7C-3690FAF38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1191EB1-A295-DD80-25A8-866673E7B20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153A9B7-8E22-02BA-DCF7-12D6559203D1}"/>
              </a:ext>
            </a:extLst>
          </p:cNvPr>
          <p:cNvSpPr txBox="1"/>
          <p:nvPr/>
        </p:nvSpPr>
        <p:spPr>
          <a:xfrm>
            <a:off x="1090648" y="571500"/>
            <a:ext cx="15899000" cy="1396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it-IT" sz="9078" b="1" spc="181" dirty="0">
                <a:solidFill>
                  <a:srgbClr val="679840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FIRST ATTEMPT</a:t>
            </a:r>
            <a:endParaRPr lang="en-US" sz="9078" b="1" spc="181" dirty="0">
              <a:solidFill>
                <a:srgbClr val="679840"/>
              </a:solidFill>
              <a:latin typeface="Anantason Condensed Bold"/>
              <a:ea typeface="Anantason Condensed Bold"/>
              <a:cs typeface="Anantason Condensed Bold"/>
              <a:sym typeface="Anantason Condensed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BE98602-F122-3E27-90ED-89275F89642F}"/>
              </a:ext>
            </a:extLst>
          </p:cNvPr>
          <p:cNvSpPr txBox="1"/>
          <p:nvPr/>
        </p:nvSpPr>
        <p:spPr>
          <a:xfrm>
            <a:off x="1264888" y="5338398"/>
            <a:ext cx="4061871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dirty="0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PITCH IN 12 ZONES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8FDA385-C871-6949-7F25-67517A3F126F}"/>
              </a:ext>
            </a:extLst>
          </p:cNvPr>
          <p:cNvSpPr txBox="1"/>
          <p:nvPr/>
        </p:nvSpPr>
        <p:spPr>
          <a:xfrm>
            <a:off x="8153400" y="5751068"/>
            <a:ext cx="2268289" cy="753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11500" dirty="0">
                <a:solidFill>
                  <a:srgbClr val="679840"/>
                </a:solidFill>
                <a:latin typeface="Roboto"/>
                <a:ea typeface="Roboto"/>
                <a:cs typeface="Roboto"/>
                <a:sym typeface="Roboto"/>
              </a:rPr>
              <a:t>-&gt;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C39523F-2199-1689-309E-1644F0739540}"/>
              </a:ext>
            </a:extLst>
          </p:cNvPr>
          <p:cNvSpPr txBox="1"/>
          <p:nvPr/>
        </p:nvSpPr>
        <p:spPr>
          <a:xfrm>
            <a:off x="11811000" y="5101820"/>
            <a:ext cx="5815976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dirty="0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SILHOUETTE SCORE = </a:t>
            </a:r>
            <a:r>
              <a:rPr lang="en-US" sz="3366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0.07-0.11 AND </a:t>
            </a:r>
            <a:r>
              <a:rPr lang="en-US" sz="3366" dirty="0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STABILITY &lt; 0.6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D14C53C-6A82-CDF5-0C4D-D5926DF66AF2}"/>
              </a:ext>
            </a:extLst>
          </p:cNvPr>
          <p:cNvSpPr txBox="1"/>
          <p:nvPr/>
        </p:nvSpPr>
        <p:spPr>
          <a:xfrm>
            <a:off x="1091785" y="1023101"/>
            <a:ext cx="41217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7"/>
              </a:lnSpc>
            </a:pPr>
            <a:endParaRPr lang="en-US" sz="2759" b="1" spc="-26" dirty="0">
              <a:solidFill>
                <a:srgbClr val="090F0C"/>
              </a:solidFill>
              <a:latin typeface="Anantason Condensed Bold"/>
              <a:ea typeface="Anantason Condensed Bold"/>
              <a:cs typeface="Anantason Condensed Bold"/>
              <a:sym typeface="Anantason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136656181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F1BFD-0D35-C965-26B4-969BE73E2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DD3E642-E5A7-2FCC-845B-DF47DCEF9D0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F2579FC-ABF6-67F3-8BF4-315245FE6696}"/>
              </a:ext>
            </a:extLst>
          </p:cNvPr>
          <p:cNvSpPr txBox="1"/>
          <p:nvPr/>
        </p:nvSpPr>
        <p:spPr>
          <a:xfrm>
            <a:off x="1090648" y="571500"/>
            <a:ext cx="15899000" cy="1396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it-IT" sz="9078" b="1" spc="181" dirty="0">
                <a:solidFill>
                  <a:srgbClr val="679840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SECOND ATTEMPT</a:t>
            </a:r>
            <a:endParaRPr lang="en-US" sz="9078" b="1" spc="181" dirty="0">
              <a:solidFill>
                <a:srgbClr val="679840"/>
              </a:solidFill>
              <a:latin typeface="Anantason Condensed Bold"/>
              <a:ea typeface="Anantason Condensed Bold"/>
              <a:cs typeface="Anantason Condensed Bold"/>
              <a:sym typeface="Anantason Condensed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4C33168-5AEA-2BC2-4594-BFDD3D7CB766}"/>
              </a:ext>
            </a:extLst>
          </p:cNvPr>
          <p:cNvSpPr txBox="1"/>
          <p:nvPr/>
        </p:nvSpPr>
        <p:spPr>
          <a:xfrm>
            <a:off x="1091785" y="6681652"/>
            <a:ext cx="5499201" cy="2564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dirty="0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SHIFTED TO 11 CONTINOUS VARIABLES TO CAPTURE TRUE GEOMETRIC DISTANCES AND ELIMINATES NOISE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5798912-9E51-A33A-4C97-D54A4297025A}"/>
              </a:ext>
            </a:extLst>
          </p:cNvPr>
          <p:cNvSpPr txBox="1"/>
          <p:nvPr/>
        </p:nvSpPr>
        <p:spPr>
          <a:xfrm>
            <a:off x="12472024" y="7964054"/>
            <a:ext cx="5815976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dirty="0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SUCCESSFULLY ISOLATED BACKGROUD NOISE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78214AD-D2B8-1A19-CDEB-4E746C17215B}"/>
              </a:ext>
            </a:extLst>
          </p:cNvPr>
          <p:cNvSpPr txBox="1"/>
          <p:nvPr/>
        </p:nvSpPr>
        <p:spPr>
          <a:xfrm>
            <a:off x="1091785" y="1023101"/>
            <a:ext cx="41217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7"/>
              </a:lnSpc>
            </a:pPr>
            <a:endParaRPr lang="en-US" sz="2759" b="1" spc="-26" dirty="0">
              <a:solidFill>
                <a:srgbClr val="090F0C"/>
              </a:solidFill>
              <a:latin typeface="Anantason Condensed Bold"/>
              <a:ea typeface="Anantason Condensed Bold"/>
              <a:cs typeface="Anantason Condensed Bold"/>
              <a:sym typeface="Anantason Condensed Bold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A87205E8-AA76-27DF-53BD-17A831714D69}"/>
              </a:ext>
            </a:extLst>
          </p:cNvPr>
          <p:cNvSpPr txBox="1"/>
          <p:nvPr/>
        </p:nvSpPr>
        <p:spPr>
          <a:xfrm>
            <a:off x="7086600" y="5143500"/>
            <a:ext cx="4462169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70" dirty="0">
                <a:solidFill>
                  <a:srgbClr val="679840"/>
                </a:solidFill>
                <a:latin typeface="Roboto"/>
                <a:ea typeface="Roboto"/>
                <a:cs typeface="Roboto"/>
                <a:sym typeface="Roboto"/>
              </a:rPr>
              <a:t>SEGMENTED SEQUENCES AT X=45</a:t>
            </a:r>
          </a:p>
        </p:txBody>
      </p:sp>
    </p:spTree>
    <p:extLst>
      <p:ext uri="{BB962C8B-B14F-4D97-AF65-F5344CB8AC3E}">
        <p14:creationId xmlns:p14="http://schemas.microsoft.com/office/powerpoint/2010/main" val="412717868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01866" y="0"/>
            <a:ext cx="1531292" cy="644987"/>
          </a:xfrm>
          <a:custGeom>
            <a:avLst/>
            <a:gdLst/>
            <a:ahLst/>
            <a:cxnLst/>
            <a:rect l="l" t="t" r="r" b="b"/>
            <a:pathLst>
              <a:path w="1531292" h="644987">
                <a:moveTo>
                  <a:pt x="0" y="0"/>
                </a:moveTo>
                <a:lnTo>
                  <a:pt x="1531292" y="0"/>
                </a:lnTo>
                <a:lnTo>
                  <a:pt x="153129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59732" y="207708"/>
            <a:ext cx="2406316" cy="1300906"/>
          </a:xfrm>
          <a:custGeom>
            <a:avLst/>
            <a:gdLst/>
            <a:ahLst/>
            <a:cxnLst/>
            <a:rect l="l" t="t" r="r" b="b"/>
            <a:pathLst>
              <a:path w="2406316" h="130090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482360" y="3716936"/>
            <a:ext cx="7323281" cy="1263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20"/>
              </a:lnSpc>
            </a:pPr>
            <a:r>
              <a:rPr lang="en-US" sz="9914" b="1" spc="198">
                <a:solidFill>
                  <a:srgbClr val="EFE7D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L2 MODULE 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85477" y="4835593"/>
            <a:ext cx="10917046" cy="369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20"/>
              </a:lnSpc>
            </a:pPr>
            <a:r>
              <a:rPr lang="en-US" sz="9914" b="1" spc="198" dirty="0">
                <a:solidFill>
                  <a:srgbClr val="5F9234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DISCOVERY AND PREDICTABILITY IN OPEN PLAY</a:t>
            </a:r>
          </a:p>
        </p:txBody>
      </p:sp>
      <p:sp>
        <p:nvSpPr>
          <p:cNvPr id="7" name="Freeform 7"/>
          <p:cNvSpPr/>
          <p:nvPr/>
        </p:nvSpPr>
        <p:spPr>
          <a:xfrm>
            <a:off x="1572460" y="8455629"/>
            <a:ext cx="5778062" cy="5778062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2" y="0"/>
                </a:lnTo>
                <a:lnTo>
                  <a:pt x="5778062" y="5778063"/>
                </a:lnTo>
                <a:lnTo>
                  <a:pt x="0" y="57780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90889" y="692810"/>
            <a:ext cx="5204889" cy="1004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43"/>
              </a:lnSpc>
            </a:pPr>
            <a:r>
              <a:rPr lang="en-US" sz="7543" b="1">
                <a:solidFill>
                  <a:srgbClr val="EFE7D6"/>
                </a:solidFill>
                <a:latin typeface="Roboto Bold"/>
                <a:ea typeface="Roboto Bold"/>
                <a:cs typeface="Roboto Bold"/>
                <a:sym typeface="Roboto Bold"/>
              </a:rPr>
              <a:t>L2 MODULE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9818" y="1623619"/>
            <a:ext cx="6311956" cy="2344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7"/>
              </a:lnSpc>
            </a:pPr>
            <a:r>
              <a:rPr lang="en-US" sz="6147" b="1">
                <a:solidFill>
                  <a:srgbClr val="638F3D"/>
                </a:solidFill>
                <a:latin typeface="Anantason Condensed Heavy"/>
                <a:ea typeface="Anantason Condensed Heavy"/>
                <a:cs typeface="Anantason Condensed Heavy"/>
                <a:sym typeface="Anantason Condensed Heavy"/>
              </a:rPr>
              <a:t>DISCOVERY AND PREDICTABILITY IN OPEN PLAY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4066699"/>
            <a:ext cx="1542230" cy="229572"/>
          </a:xfrm>
          <a:custGeom>
            <a:avLst/>
            <a:gdLst/>
            <a:ahLst/>
            <a:cxnLst/>
            <a:rect l="l" t="t" r="r" b="b"/>
            <a:pathLst>
              <a:path w="1542230" h="229572">
                <a:moveTo>
                  <a:pt x="0" y="0"/>
                </a:moveTo>
                <a:lnTo>
                  <a:pt x="1542230" y="0"/>
                </a:lnTo>
                <a:lnTo>
                  <a:pt x="154223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5330" y="4711687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4086" y="5564382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45330" y="5990729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64086" y="6854356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45330" y="7499343"/>
            <a:ext cx="1104718" cy="863627"/>
          </a:xfrm>
          <a:custGeom>
            <a:avLst/>
            <a:gdLst/>
            <a:ahLst/>
            <a:cxnLst/>
            <a:rect l="l" t="t" r="r" b="b"/>
            <a:pathLst>
              <a:path w="1104718" h="863627">
                <a:moveTo>
                  <a:pt x="0" y="0"/>
                </a:moveTo>
                <a:lnTo>
                  <a:pt x="1104718" y="0"/>
                </a:lnTo>
                <a:lnTo>
                  <a:pt x="110471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38343" y="7684972"/>
            <a:ext cx="412171" cy="43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7"/>
              </a:lnSpc>
            </a:pPr>
            <a:r>
              <a:rPr lang="en-US" sz="2759" b="1" spc="-26">
                <a:solidFill>
                  <a:srgbClr val="090F0C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03</a:t>
            </a:r>
          </a:p>
        </p:txBody>
      </p:sp>
      <p:sp>
        <p:nvSpPr>
          <p:cNvPr id="12" name="Freeform 12"/>
          <p:cNvSpPr/>
          <p:nvPr/>
        </p:nvSpPr>
        <p:spPr>
          <a:xfrm>
            <a:off x="864086" y="8133399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45330" y="8778386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009180" y="4704715"/>
            <a:ext cx="5143500" cy="357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b="1" spc="-22">
                <a:solidFill>
                  <a:srgbClr val="C2C2B0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UNSUPERVISED PATTERN DISCOVERY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58821" y="5104320"/>
            <a:ext cx="5035821" cy="63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19">
                <a:solidFill>
                  <a:srgbClr val="C2C2B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clustering algorithms reveal spatiotemporal tactical patterns </a:t>
            </a:r>
            <a:r>
              <a:rPr lang="en-US" sz="2047" b="1" spc="-19">
                <a:solidFill>
                  <a:srgbClr val="638F3D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automatically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09180" y="6045130"/>
            <a:ext cx="5143500" cy="357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b="1" spc="-22">
                <a:solidFill>
                  <a:srgbClr val="C2C2B0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STABILITY MEASUREMENT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58181" y="6459796"/>
            <a:ext cx="5099915" cy="63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19">
                <a:solidFill>
                  <a:srgbClr val="C2C2B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bootstrap sampling delivers </a:t>
            </a:r>
            <a:r>
              <a:rPr lang="en-US" sz="2047" b="1" spc="-19">
                <a:solidFill>
                  <a:srgbClr val="638F3D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robustness</a:t>
            </a:r>
            <a:r>
              <a:rPr lang="en-US" sz="2047" spc="-19">
                <a:solidFill>
                  <a:srgbClr val="C2C2B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and confidence intervals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63340" y="7785150"/>
            <a:ext cx="4583929" cy="63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19">
                <a:solidFill>
                  <a:srgbClr val="C2C2B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shannon entropy vs. baseline quantifies tactical </a:t>
            </a:r>
            <a:r>
              <a:rPr lang="en-US" sz="2047" b="1" spc="-19">
                <a:solidFill>
                  <a:srgbClr val="638F3D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rigidity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75127" y="9170747"/>
            <a:ext cx="3405316" cy="63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19">
                <a:solidFill>
                  <a:srgbClr val="C2C2B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bayer leverkusen </a:t>
            </a:r>
            <a:r>
              <a:rPr lang="en-US" sz="2047" b="1" spc="-19">
                <a:solidFill>
                  <a:srgbClr val="638F3D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2023/24</a:t>
            </a:r>
            <a:r>
              <a:rPr lang="en-US" sz="2047" spc="-19">
                <a:solidFill>
                  <a:srgbClr val="C2C2B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 vs.</a:t>
            </a:r>
          </a:p>
          <a:p>
            <a:pPr algn="l">
              <a:lnSpc>
                <a:spcPts val="2661"/>
              </a:lnSpc>
            </a:pPr>
            <a:r>
              <a:rPr lang="en-US" sz="2047" spc="-19">
                <a:solidFill>
                  <a:srgbClr val="C2C2B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leicester city </a:t>
            </a:r>
            <a:r>
              <a:rPr lang="en-US" sz="2047" b="1" spc="-19">
                <a:solidFill>
                  <a:srgbClr val="638F3D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2015/16</a:t>
            </a:r>
          </a:p>
        </p:txBody>
      </p:sp>
      <p:sp>
        <p:nvSpPr>
          <p:cNvPr id="20" name="Freeform 20"/>
          <p:cNvSpPr/>
          <p:nvPr/>
        </p:nvSpPr>
        <p:spPr>
          <a:xfrm>
            <a:off x="8268976" y="1497682"/>
            <a:ext cx="8936182" cy="6865288"/>
          </a:xfrm>
          <a:custGeom>
            <a:avLst/>
            <a:gdLst/>
            <a:ahLst/>
            <a:cxnLst/>
            <a:rect l="l" t="t" r="r" b="b"/>
            <a:pathLst>
              <a:path w="8936182" h="6865288">
                <a:moveTo>
                  <a:pt x="0" y="0"/>
                </a:moveTo>
                <a:lnTo>
                  <a:pt x="8936182" y="0"/>
                </a:lnTo>
                <a:lnTo>
                  <a:pt x="8936182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135070" y="8773373"/>
            <a:ext cx="3000375" cy="71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0"/>
              </a:lnSpc>
            </a:pPr>
            <a:r>
              <a:rPr lang="en-US" sz="2254" b="1" spc="-22">
                <a:solidFill>
                  <a:srgbClr val="638F3D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BAYER LEVERKUSEN</a:t>
            </a:r>
          </a:p>
          <a:p>
            <a:pPr algn="ctr">
              <a:lnSpc>
                <a:spcPts val="2930"/>
              </a:lnSpc>
            </a:pPr>
            <a:r>
              <a:rPr lang="en-US" sz="2254" b="1" spc="-22">
                <a:solidFill>
                  <a:srgbClr val="638F3D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2023/24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08405" y="9562179"/>
            <a:ext cx="2793699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spc="-18">
                <a:solidFill>
                  <a:srgbClr val="C2C2B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extreme possession style</a:t>
            </a:r>
          </a:p>
        </p:txBody>
      </p:sp>
      <p:sp>
        <p:nvSpPr>
          <p:cNvPr id="23" name="Freeform 23"/>
          <p:cNvSpPr/>
          <p:nvPr/>
        </p:nvSpPr>
        <p:spPr>
          <a:xfrm>
            <a:off x="12840976" y="8778386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3474898" y="8773373"/>
            <a:ext cx="3000375" cy="71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0"/>
              </a:lnSpc>
            </a:pPr>
            <a:r>
              <a:rPr lang="en-US" sz="2254" b="1" spc="-22">
                <a:solidFill>
                  <a:srgbClr val="C2C2B0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LEICESTER CITY</a:t>
            </a:r>
          </a:p>
          <a:p>
            <a:pPr algn="ctr">
              <a:lnSpc>
                <a:spcPts val="2930"/>
              </a:lnSpc>
            </a:pPr>
            <a:r>
              <a:rPr lang="en-US" sz="2254" b="1" spc="-22">
                <a:solidFill>
                  <a:srgbClr val="C2C2B0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2015/16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94600" y="9562179"/>
            <a:ext cx="2500965" cy="29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spc="-18">
                <a:solidFill>
                  <a:srgbClr val="C2C2B0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counter-attacking style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09180" y="7385545"/>
            <a:ext cx="5143500" cy="357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b="1" spc="-22">
                <a:solidFill>
                  <a:srgbClr val="C2C2B0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PREDICTABILITY SCORE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09180" y="8771142"/>
            <a:ext cx="5143500" cy="357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b="1" spc="-22">
                <a:solidFill>
                  <a:srgbClr val="C2C2B0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CASE COMPARISON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8343" y="5004142"/>
            <a:ext cx="412171" cy="43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7"/>
              </a:lnSpc>
            </a:pPr>
            <a:r>
              <a:rPr lang="en-US" sz="2759" b="1" spc="-26">
                <a:solidFill>
                  <a:srgbClr val="090F0C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01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8343" y="6344557"/>
            <a:ext cx="412171" cy="43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7"/>
              </a:lnSpc>
            </a:pPr>
            <a:r>
              <a:rPr lang="en-US" sz="2759" b="1" spc="-26">
                <a:solidFill>
                  <a:srgbClr val="090F0C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02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8343" y="9040447"/>
            <a:ext cx="412171" cy="43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7"/>
              </a:lnSpc>
            </a:pPr>
            <a:r>
              <a:rPr lang="en-US" sz="2759" b="1" spc="-26">
                <a:solidFill>
                  <a:srgbClr val="090F0C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04</a:t>
            </a: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032213" y="932791"/>
            <a:ext cx="4975164" cy="753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8"/>
              </a:lnSpc>
            </a:pPr>
            <a:r>
              <a:rPr lang="en-US" sz="5678" b="1" spc="113">
                <a:solidFill>
                  <a:srgbClr val="F2E9D8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STEP 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78479" y="887636"/>
            <a:ext cx="8601721" cy="3486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8"/>
              </a:lnSpc>
            </a:pPr>
            <a:r>
              <a:rPr lang="en-US" sz="9078" b="1" spc="181">
                <a:solidFill>
                  <a:srgbClr val="679840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UNSUPERVISED PATTERN DISCOVERY</a:t>
            </a:r>
          </a:p>
        </p:txBody>
      </p:sp>
      <p:sp>
        <p:nvSpPr>
          <p:cNvPr id="5" name="Freeform 5"/>
          <p:cNvSpPr/>
          <p:nvPr/>
        </p:nvSpPr>
        <p:spPr>
          <a:xfrm>
            <a:off x="634940" y="1706983"/>
            <a:ext cx="1808073" cy="200790"/>
          </a:xfrm>
          <a:custGeom>
            <a:avLst/>
            <a:gdLst/>
            <a:ahLst/>
            <a:cxnLst/>
            <a:rect l="l" t="t" r="r" b="b"/>
            <a:pathLst>
              <a:path w="1808073" h="200790">
                <a:moveTo>
                  <a:pt x="0" y="0"/>
                </a:moveTo>
                <a:lnTo>
                  <a:pt x="1808074" y="0"/>
                </a:lnTo>
                <a:lnTo>
                  <a:pt x="1808074" y="200790"/>
                </a:lnTo>
                <a:lnTo>
                  <a:pt x="0" y="2007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45710" y="8499123"/>
            <a:ext cx="7348170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dirty="0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To group the sequences:</a:t>
            </a:r>
          </a:p>
          <a:p>
            <a:pPr algn="l">
              <a:lnSpc>
                <a:spcPts val="4040"/>
              </a:lnSpc>
            </a:pPr>
            <a:r>
              <a:rPr lang="en-US" sz="3366" dirty="0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K-MEANS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86434" y="5926928"/>
            <a:ext cx="5507043" cy="101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>
                <a:solidFill>
                  <a:srgbClr val="679840"/>
                </a:solidFill>
                <a:latin typeface="Roboto"/>
                <a:ea typeface="Roboto"/>
                <a:cs typeface="Roboto"/>
                <a:sym typeface="Roboto"/>
              </a:rPr>
              <a:t>Its centroids are literal (X,Y) vectors on the pitch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43324" y="7749470"/>
            <a:ext cx="5815976" cy="150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An analyst can look at the centroid and instantly understand the tactical shape</a:t>
            </a:r>
          </a:p>
        </p:txBody>
      </p:sp>
      <p:sp>
        <p:nvSpPr>
          <p:cNvPr id="9" name="Freeform 9"/>
          <p:cNvSpPr/>
          <p:nvPr/>
        </p:nvSpPr>
        <p:spPr>
          <a:xfrm>
            <a:off x="745512" y="716186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91785" y="1023101"/>
            <a:ext cx="412171" cy="43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7"/>
              </a:lnSpc>
            </a:pPr>
            <a:r>
              <a:rPr lang="en-US" sz="2759" b="1" spc="-26">
                <a:solidFill>
                  <a:srgbClr val="090F0C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01</a:t>
            </a:r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032213" y="932791"/>
            <a:ext cx="4975164" cy="753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8"/>
              </a:lnSpc>
            </a:pPr>
            <a:r>
              <a:rPr lang="en-US" sz="5678" b="1" spc="113">
                <a:solidFill>
                  <a:srgbClr val="F2E9D8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STEP 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78479" y="887636"/>
            <a:ext cx="8601721" cy="234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8"/>
              </a:lnSpc>
            </a:pPr>
            <a:r>
              <a:rPr lang="en-US" sz="9078" b="1" spc="181">
                <a:solidFill>
                  <a:srgbClr val="679840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STABILITY MEASUREMENT</a:t>
            </a:r>
          </a:p>
        </p:txBody>
      </p:sp>
      <p:sp>
        <p:nvSpPr>
          <p:cNvPr id="5" name="Freeform 5"/>
          <p:cNvSpPr/>
          <p:nvPr/>
        </p:nvSpPr>
        <p:spPr>
          <a:xfrm>
            <a:off x="634940" y="1706983"/>
            <a:ext cx="1808073" cy="200790"/>
          </a:xfrm>
          <a:custGeom>
            <a:avLst/>
            <a:gdLst/>
            <a:ahLst/>
            <a:cxnLst/>
            <a:rect l="l" t="t" r="r" b="b"/>
            <a:pathLst>
              <a:path w="1808073" h="200790">
                <a:moveTo>
                  <a:pt x="0" y="0"/>
                </a:moveTo>
                <a:lnTo>
                  <a:pt x="1808074" y="0"/>
                </a:lnTo>
                <a:lnTo>
                  <a:pt x="1808074" y="200790"/>
                </a:lnTo>
                <a:lnTo>
                  <a:pt x="0" y="2007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91785" y="8499123"/>
            <a:ext cx="7348170" cy="509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Bootstrap Resampling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63194" y="6143878"/>
            <a:ext cx="2753522" cy="51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dirty="0">
                <a:solidFill>
                  <a:srgbClr val="679840"/>
                </a:solidFill>
                <a:latin typeface="Roboto"/>
                <a:ea typeface="Roboto"/>
                <a:cs typeface="Roboto"/>
                <a:sym typeface="Roboto"/>
              </a:rPr>
              <a:t>200 iterations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34395" y="8499123"/>
            <a:ext cx="6024905" cy="509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>
                <a:solidFill>
                  <a:srgbClr val="F2E9D8"/>
                </a:solidFill>
                <a:latin typeface="Roboto"/>
                <a:ea typeface="Roboto"/>
                <a:cs typeface="Roboto"/>
                <a:sym typeface="Roboto"/>
              </a:rPr>
              <a:t>Is it pattern or just an anomaly?</a:t>
            </a:r>
          </a:p>
        </p:txBody>
      </p:sp>
      <p:sp>
        <p:nvSpPr>
          <p:cNvPr id="9" name="Freeform 9"/>
          <p:cNvSpPr/>
          <p:nvPr/>
        </p:nvSpPr>
        <p:spPr>
          <a:xfrm>
            <a:off x="745512" y="716186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91785" y="1023101"/>
            <a:ext cx="412171" cy="43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7"/>
              </a:lnSpc>
            </a:pPr>
            <a:r>
              <a:rPr lang="en-US" sz="2759" b="1" spc="-26">
                <a:solidFill>
                  <a:srgbClr val="090F0C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02</a:t>
            </a: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34940" y="1706983"/>
            <a:ext cx="1808073" cy="200790"/>
          </a:xfrm>
          <a:custGeom>
            <a:avLst/>
            <a:gdLst/>
            <a:ahLst/>
            <a:cxnLst/>
            <a:rect l="l" t="t" r="r" b="b"/>
            <a:pathLst>
              <a:path w="1808073" h="200790">
                <a:moveTo>
                  <a:pt x="0" y="0"/>
                </a:moveTo>
                <a:lnTo>
                  <a:pt x="1808074" y="0"/>
                </a:lnTo>
                <a:lnTo>
                  <a:pt x="1808074" y="200790"/>
                </a:lnTo>
                <a:lnTo>
                  <a:pt x="0" y="2007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5512" y="716186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32380" y="5691793"/>
            <a:ext cx="5423240" cy="638028"/>
          </a:xfrm>
          <a:custGeom>
            <a:avLst/>
            <a:gdLst/>
            <a:ahLst/>
            <a:cxnLst/>
            <a:rect l="l" t="t" r="r" b="b"/>
            <a:pathLst>
              <a:path w="5423240" h="638028">
                <a:moveTo>
                  <a:pt x="0" y="0"/>
                </a:moveTo>
                <a:lnTo>
                  <a:pt x="5423240" y="0"/>
                </a:lnTo>
                <a:lnTo>
                  <a:pt x="5423240" y="638028"/>
                </a:lnTo>
                <a:lnTo>
                  <a:pt x="0" y="6380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32213" y="932791"/>
            <a:ext cx="4975164" cy="753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8"/>
              </a:lnSpc>
            </a:pPr>
            <a:r>
              <a:rPr lang="en-US" sz="5678" b="1" spc="113">
                <a:solidFill>
                  <a:srgbClr val="F2E9D8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STEP 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78479" y="887636"/>
            <a:ext cx="8601721" cy="234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8"/>
              </a:lnSpc>
            </a:pPr>
            <a:r>
              <a:rPr lang="en-US" sz="9078" b="1" spc="181">
                <a:solidFill>
                  <a:srgbClr val="679840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PREDICTABILITY SCORE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1785" y="8499123"/>
            <a:ext cx="7348170" cy="51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>
                <a:solidFill>
                  <a:srgbClr val="679840"/>
                </a:solidFill>
                <a:latin typeface="Roboto"/>
                <a:ea typeface="Roboto"/>
                <a:cs typeface="Roboto"/>
                <a:sym typeface="Roboto"/>
              </a:rPr>
              <a:t>Shannon Entropy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55620" y="6984690"/>
            <a:ext cx="6024905" cy="3038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>
                <a:solidFill>
                  <a:srgbClr val="679840"/>
                </a:solidFill>
                <a:latin typeface="Roboto"/>
                <a:ea typeface="Roboto"/>
                <a:cs typeface="Roboto"/>
                <a:sym typeface="Roboto"/>
              </a:rPr>
              <a:t>Entropy close to zero indicates that, under pressure, the opponent is predictable and exploitable, because they almost always opt for the long ball.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1785" y="1023101"/>
            <a:ext cx="412171" cy="43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7"/>
              </a:lnSpc>
            </a:pPr>
            <a:r>
              <a:rPr lang="en-US" sz="2759" b="1" spc="-26">
                <a:solidFill>
                  <a:srgbClr val="090F0C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03</a:t>
            </a: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032213" y="932791"/>
            <a:ext cx="4975164" cy="753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8"/>
              </a:lnSpc>
            </a:pPr>
            <a:r>
              <a:rPr lang="en-US" sz="5678" b="1" spc="113">
                <a:solidFill>
                  <a:srgbClr val="F2E9D8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STEP 04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78479" y="887636"/>
            <a:ext cx="8601721" cy="234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8"/>
              </a:lnSpc>
            </a:pPr>
            <a:r>
              <a:rPr lang="en-US" sz="9078" b="1" spc="181">
                <a:solidFill>
                  <a:srgbClr val="679840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CASE COMPARISON</a:t>
            </a:r>
          </a:p>
        </p:txBody>
      </p:sp>
      <p:sp>
        <p:nvSpPr>
          <p:cNvPr id="5" name="Freeform 5"/>
          <p:cNvSpPr/>
          <p:nvPr/>
        </p:nvSpPr>
        <p:spPr>
          <a:xfrm>
            <a:off x="634940" y="1706983"/>
            <a:ext cx="1808073" cy="200790"/>
          </a:xfrm>
          <a:custGeom>
            <a:avLst/>
            <a:gdLst/>
            <a:ahLst/>
            <a:cxnLst/>
            <a:rect l="l" t="t" r="r" b="b"/>
            <a:pathLst>
              <a:path w="1808073" h="200790">
                <a:moveTo>
                  <a:pt x="0" y="0"/>
                </a:moveTo>
                <a:lnTo>
                  <a:pt x="1808074" y="0"/>
                </a:lnTo>
                <a:lnTo>
                  <a:pt x="1808074" y="200790"/>
                </a:lnTo>
                <a:lnTo>
                  <a:pt x="0" y="2007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132208" y="7626372"/>
            <a:ext cx="10292542" cy="609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966">
                <a:solidFill>
                  <a:srgbClr val="679840"/>
                </a:solidFill>
                <a:latin typeface="Roboto"/>
                <a:ea typeface="Roboto"/>
                <a:cs typeface="Roboto"/>
                <a:sym typeface="Roboto"/>
              </a:rPr>
              <a:t>Put this entire pipeline to the test on real data</a:t>
            </a:r>
          </a:p>
        </p:txBody>
      </p:sp>
      <p:sp>
        <p:nvSpPr>
          <p:cNvPr id="7" name="Freeform 7"/>
          <p:cNvSpPr/>
          <p:nvPr/>
        </p:nvSpPr>
        <p:spPr>
          <a:xfrm>
            <a:off x="745512" y="716186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91785" y="1023101"/>
            <a:ext cx="412171" cy="43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7"/>
              </a:lnSpc>
            </a:pPr>
            <a:r>
              <a:rPr lang="en-US" sz="2759" b="1" spc="-26">
                <a:solidFill>
                  <a:srgbClr val="090F0C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04</a:t>
            </a: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01866" y="0"/>
            <a:ext cx="1531292" cy="644987"/>
          </a:xfrm>
          <a:custGeom>
            <a:avLst/>
            <a:gdLst/>
            <a:ahLst/>
            <a:cxnLst/>
            <a:rect l="l" t="t" r="r" b="b"/>
            <a:pathLst>
              <a:path w="1531292" h="644987">
                <a:moveTo>
                  <a:pt x="0" y="0"/>
                </a:moveTo>
                <a:lnTo>
                  <a:pt x="1531292" y="0"/>
                </a:lnTo>
                <a:lnTo>
                  <a:pt x="153129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59732" y="207708"/>
            <a:ext cx="2406316" cy="1300906"/>
          </a:xfrm>
          <a:custGeom>
            <a:avLst/>
            <a:gdLst/>
            <a:ahLst/>
            <a:cxnLst/>
            <a:rect l="l" t="t" r="r" b="b"/>
            <a:pathLst>
              <a:path w="2406316" h="130090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952567" y="2928074"/>
            <a:ext cx="12382867" cy="2574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51"/>
              </a:lnSpc>
            </a:pPr>
            <a:r>
              <a:rPr lang="en-US" sz="7000" b="1" spc="140" dirty="0">
                <a:solidFill>
                  <a:srgbClr val="EFE7D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HOW DO WE MATHEMATICALLY MEASURE THE SURVIVAL OF OUR CLUSTERS FROM THE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52567" y="5665054"/>
            <a:ext cx="9282177" cy="898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51"/>
              </a:lnSpc>
            </a:pPr>
            <a:r>
              <a:rPr lang="en-US" sz="7000" b="1" spc="140" dirty="0">
                <a:solidFill>
                  <a:srgbClr val="5F9234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BOOTSTRAP PHASE?</a:t>
            </a:r>
          </a:p>
        </p:txBody>
      </p:sp>
      <p:sp>
        <p:nvSpPr>
          <p:cNvPr id="7" name="Freeform 7"/>
          <p:cNvSpPr/>
          <p:nvPr/>
        </p:nvSpPr>
        <p:spPr>
          <a:xfrm>
            <a:off x="1463985" y="7623987"/>
            <a:ext cx="5778062" cy="5778062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1FDED-61A5-4F3A-3A02-6781B43C8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2981BA6-F5CD-2C28-6BDE-B3321493F47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46745AD-868C-3F1B-F86F-9BBF03F13EDF}"/>
              </a:ext>
            </a:extLst>
          </p:cNvPr>
          <p:cNvSpPr/>
          <p:nvPr/>
        </p:nvSpPr>
        <p:spPr>
          <a:xfrm>
            <a:off x="11101866" y="0"/>
            <a:ext cx="1531292" cy="644987"/>
          </a:xfrm>
          <a:custGeom>
            <a:avLst/>
            <a:gdLst/>
            <a:ahLst/>
            <a:cxnLst/>
            <a:rect l="l" t="t" r="r" b="b"/>
            <a:pathLst>
              <a:path w="1531292" h="644987">
                <a:moveTo>
                  <a:pt x="0" y="0"/>
                </a:moveTo>
                <a:lnTo>
                  <a:pt x="1531292" y="0"/>
                </a:lnTo>
                <a:lnTo>
                  <a:pt x="153129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987314F-69EA-D30E-04B9-0D6BBD575F5E}"/>
              </a:ext>
            </a:extLst>
          </p:cNvPr>
          <p:cNvSpPr/>
          <p:nvPr/>
        </p:nvSpPr>
        <p:spPr>
          <a:xfrm>
            <a:off x="13059732" y="207708"/>
            <a:ext cx="2406316" cy="1300906"/>
          </a:xfrm>
          <a:custGeom>
            <a:avLst/>
            <a:gdLst/>
            <a:ahLst/>
            <a:cxnLst/>
            <a:rect l="l" t="t" r="r" b="b"/>
            <a:pathLst>
              <a:path w="2406316" h="130090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B178AD8-1F0F-2745-9B19-511ED07C7BCC}"/>
              </a:ext>
            </a:extLst>
          </p:cNvPr>
          <p:cNvSpPr txBox="1"/>
          <p:nvPr/>
        </p:nvSpPr>
        <p:spPr>
          <a:xfrm>
            <a:off x="5744532" y="4762500"/>
            <a:ext cx="7315200" cy="913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51"/>
              </a:lnSpc>
            </a:pPr>
            <a:r>
              <a:rPr lang="en-US" sz="7000" b="1" spc="140" dirty="0">
                <a:solidFill>
                  <a:srgbClr val="EFE7D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JACCARD INDEX</a:t>
            </a:r>
          </a:p>
        </p:txBody>
      </p:sp>
    </p:spTree>
    <p:extLst>
      <p:ext uri="{BB962C8B-B14F-4D97-AF65-F5344CB8AC3E}">
        <p14:creationId xmlns:p14="http://schemas.microsoft.com/office/powerpoint/2010/main" val="597726969"/>
      </p:ext>
    </p:extLst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01866" y="0"/>
            <a:ext cx="1531292" cy="644987"/>
          </a:xfrm>
          <a:custGeom>
            <a:avLst/>
            <a:gdLst/>
            <a:ahLst/>
            <a:cxnLst/>
            <a:rect l="l" t="t" r="r" b="b"/>
            <a:pathLst>
              <a:path w="1531292" h="644987">
                <a:moveTo>
                  <a:pt x="0" y="0"/>
                </a:moveTo>
                <a:lnTo>
                  <a:pt x="1531292" y="0"/>
                </a:lnTo>
                <a:lnTo>
                  <a:pt x="153129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59732" y="207708"/>
            <a:ext cx="2406316" cy="1300906"/>
          </a:xfrm>
          <a:custGeom>
            <a:avLst/>
            <a:gdLst/>
            <a:ahLst/>
            <a:cxnLst/>
            <a:rect l="l" t="t" r="r" b="b"/>
            <a:pathLst>
              <a:path w="2406316" h="130090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482360" y="4364561"/>
            <a:ext cx="7323281" cy="1263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20"/>
              </a:lnSpc>
            </a:pPr>
            <a:r>
              <a:rPr lang="en-US" sz="9914" b="1" spc="198">
                <a:solidFill>
                  <a:srgbClr val="EFE7D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WHAT IS THE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02911" y="5372100"/>
            <a:ext cx="9282177" cy="1263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20"/>
              </a:lnSpc>
            </a:pPr>
            <a:r>
              <a:rPr lang="en-US" sz="9914" b="1" spc="198">
                <a:solidFill>
                  <a:srgbClr val="5F9234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JACCARD INDEX</a:t>
            </a:r>
          </a:p>
        </p:txBody>
      </p:sp>
      <p:sp>
        <p:nvSpPr>
          <p:cNvPr id="7" name="Freeform 7"/>
          <p:cNvSpPr/>
          <p:nvPr/>
        </p:nvSpPr>
        <p:spPr>
          <a:xfrm>
            <a:off x="1463985" y="7623987"/>
            <a:ext cx="5778062" cy="5778062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01866" y="0"/>
            <a:ext cx="1531292" cy="644987"/>
          </a:xfrm>
          <a:custGeom>
            <a:avLst/>
            <a:gdLst/>
            <a:ahLst/>
            <a:cxnLst/>
            <a:rect l="l" t="t" r="r" b="b"/>
            <a:pathLst>
              <a:path w="1531292" h="644987">
                <a:moveTo>
                  <a:pt x="0" y="0"/>
                </a:moveTo>
                <a:lnTo>
                  <a:pt x="1531292" y="0"/>
                </a:lnTo>
                <a:lnTo>
                  <a:pt x="153129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59732" y="207708"/>
            <a:ext cx="2406316" cy="1300906"/>
          </a:xfrm>
          <a:custGeom>
            <a:avLst/>
            <a:gdLst/>
            <a:ahLst/>
            <a:cxnLst/>
            <a:rect l="l" t="t" r="r" b="b"/>
            <a:pathLst>
              <a:path w="2406316" h="130090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63985" y="7623987"/>
            <a:ext cx="5778062" cy="5778062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507995" y="2267145"/>
            <a:ext cx="5509791" cy="5509791"/>
          </a:xfrm>
          <a:custGeom>
            <a:avLst/>
            <a:gdLst/>
            <a:ahLst/>
            <a:cxnLst/>
            <a:rect l="l" t="t" r="r" b="b"/>
            <a:pathLst>
              <a:path w="5509791" h="5509791">
                <a:moveTo>
                  <a:pt x="0" y="0"/>
                </a:moveTo>
                <a:lnTo>
                  <a:pt x="5509790" y="0"/>
                </a:lnTo>
                <a:lnTo>
                  <a:pt x="5509790" y="5509790"/>
                </a:lnTo>
                <a:lnTo>
                  <a:pt x="0" y="55097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92301" y="2510065"/>
            <a:ext cx="6721430" cy="5266871"/>
          </a:xfrm>
          <a:custGeom>
            <a:avLst/>
            <a:gdLst/>
            <a:ahLst/>
            <a:cxnLst/>
            <a:rect l="l" t="t" r="r" b="b"/>
            <a:pathLst>
              <a:path w="6721430" h="5266871">
                <a:moveTo>
                  <a:pt x="0" y="0"/>
                </a:moveTo>
                <a:lnTo>
                  <a:pt x="6721430" y="0"/>
                </a:lnTo>
                <a:lnTo>
                  <a:pt x="6721430" y="5266870"/>
                </a:lnTo>
                <a:lnTo>
                  <a:pt x="0" y="52668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01866" y="0"/>
            <a:ext cx="1531292" cy="644987"/>
          </a:xfrm>
          <a:custGeom>
            <a:avLst/>
            <a:gdLst/>
            <a:ahLst/>
            <a:cxnLst/>
            <a:rect l="l" t="t" r="r" b="b"/>
            <a:pathLst>
              <a:path w="1531292" h="644987">
                <a:moveTo>
                  <a:pt x="0" y="0"/>
                </a:moveTo>
                <a:lnTo>
                  <a:pt x="1531292" y="0"/>
                </a:lnTo>
                <a:lnTo>
                  <a:pt x="153129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59732" y="207708"/>
            <a:ext cx="2406316" cy="1300906"/>
          </a:xfrm>
          <a:custGeom>
            <a:avLst/>
            <a:gdLst/>
            <a:ahLst/>
            <a:cxnLst/>
            <a:rect l="l" t="t" r="r" b="b"/>
            <a:pathLst>
              <a:path w="2406316" h="130090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482360" y="3716936"/>
            <a:ext cx="7323281" cy="1263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20"/>
              </a:lnSpc>
            </a:pPr>
            <a:r>
              <a:rPr lang="en-US" sz="9914" b="1" spc="198">
                <a:solidFill>
                  <a:srgbClr val="EFE7D6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L2 MODULE 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45844" y="4811645"/>
            <a:ext cx="11596313" cy="369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20"/>
              </a:lnSpc>
            </a:pPr>
            <a:r>
              <a:rPr lang="en-US" sz="9914" b="1" spc="198" dirty="0">
                <a:solidFill>
                  <a:srgbClr val="5F9234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TACTICAL PATTERN STABILITY IN ACTION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1572460" y="8455629"/>
            <a:ext cx="5778062" cy="5778062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2" y="0"/>
                </a:lnTo>
                <a:lnTo>
                  <a:pt x="5778062" y="5778063"/>
                </a:lnTo>
                <a:lnTo>
                  <a:pt x="0" y="57780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7818" y="2142670"/>
            <a:ext cx="8936182" cy="6646648"/>
          </a:xfrm>
          <a:custGeom>
            <a:avLst/>
            <a:gdLst/>
            <a:ahLst/>
            <a:cxnLst/>
            <a:rect l="l" t="t" r="r" b="b"/>
            <a:pathLst>
              <a:path w="8936182" h="6646648">
                <a:moveTo>
                  <a:pt x="0" y="0"/>
                </a:moveTo>
                <a:lnTo>
                  <a:pt x="8936182" y="0"/>
                </a:lnTo>
                <a:lnTo>
                  <a:pt x="8936182" y="6646648"/>
                </a:lnTo>
                <a:lnTo>
                  <a:pt x="0" y="6646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45330" y="7062064"/>
            <a:ext cx="8290852" cy="229572"/>
          </a:xfrm>
          <a:custGeom>
            <a:avLst/>
            <a:gdLst/>
            <a:ahLst/>
            <a:cxnLst/>
            <a:rect l="l" t="t" r="r" b="b"/>
            <a:pathLst>
              <a:path w="8290852" h="229572">
                <a:moveTo>
                  <a:pt x="0" y="0"/>
                </a:moveTo>
                <a:lnTo>
                  <a:pt x="8290852" y="0"/>
                </a:lnTo>
                <a:lnTo>
                  <a:pt x="829085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63334" y="2142670"/>
            <a:ext cx="8717426" cy="6646648"/>
          </a:xfrm>
          <a:custGeom>
            <a:avLst/>
            <a:gdLst/>
            <a:ahLst/>
            <a:cxnLst/>
            <a:rect l="l" t="t" r="r" b="b"/>
            <a:pathLst>
              <a:path w="8717426" h="6646648">
                <a:moveTo>
                  <a:pt x="0" y="0"/>
                </a:moveTo>
                <a:lnTo>
                  <a:pt x="8717426" y="0"/>
                </a:lnTo>
                <a:lnTo>
                  <a:pt x="8717426" y="6646648"/>
                </a:lnTo>
                <a:lnTo>
                  <a:pt x="0" y="66466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351818" y="7062064"/>
            <a:ext cx="8290852" cy="229572"/>
          </a:xfrm>
          <a:custGeom>
            <a:avLst/>
            <a:gdLst/>
            <a:ahLst/>
            <a:cxnLst/>
            <a:rect l="l" t="t" r="r" b="b"/>
            <a:pathLst>
              <a:path w="8290852" h="229572">
                <a:moveTo>
                  <a:pt x="0" y="0"/>
                </a:moveTo>
                <a:lnTo>
                  <a:pt x="8290852" y="0"/>
                </a:lnTo>
                <a:lnTo>
                  <a:pt x="829085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07818" y="8778386"/>
            <a:ext cx="17653608" cy="1300906"/>
          </a:xfrm>
          <a:custGeom>
            <a:avLst/>
            <a:gdLst/>
            <a:ahLst/>
            <a:cxnLst/>
            <a:rect l="l" t="t" r="r" b="b"/>
            <a:pathLst>
              <a:path w="17653608" h="1300906">
                <a:moveTo>
                  <a:pt x="0" y="0"/>
                </a:moveTo>
                <a:lnTo>
                  <a:pt x="17653608" y="0"/>
                </a:lnTo>
                <a:lnTo>
                  <a:pt x="1765360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26574" y="8997026"/>
            <a:ext cx="1542230" cy="1082267"/>
          </a:xfrm>
          <a:custGeom>
            <a:avLst/>
            <a:gdLst/>
            <a:ahLst/>
            <a:cxnLst/>
            <a:rect l="l" t="t" r="r" b="b"/>
            <a:pathLst>
              <a:path w="1542230" h="1082267">
                <a:moveTo>
                  <a:pt x="0" y="0"/>
                </a:moveTo>
                <a:lnTo>
                  <a:pt x="1542230" y="0"/>
                </a:lnTo>
                <a:lnTo>
                  <a:pt x="154223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22392" y="3070688"/>
            <a:ext cx="8413790" cy="3365516"/>
          </a:xfrm>
          <a:custGeom>
            <a:avLst/>
            <a:gdLst/>
            <a:ahLst/>
            <a:cxnLst/>
            <a:rect l="l" t="t" r="r" b="b"/>
            <a:pathLst>
              <a:path w="8413790" h="3365516">
                <a:moveTo>
                  <a:pt x="0" y="0"/>
                </a:moveTo>
                <a:lnTo>
                  <a:pt x="8413790" y="0"/>
                </a:lnTo>
                <a:lnTo>
                  <a:pt x="8413790" y="3365516"/>
                </a:lnTo>
                <a:lnTo>
                  <a:pt x="0" y="33655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351818" y="3070688"/>
            <a:ext cx="8413790" cy="3365516"/>
          </a:xfrm>
          <a:custGeom>
            <a:avLst/>
            <a:gdLst/>
            <a:ahLst/>
            <a:cxnLst/>
            <a:rect l="l" t="t" r="r" b="b"/>
            <a:pathLst>
              <a:path w="8413790" h="3365516">
                <a:moveTo>
                  <a:pt x="0" y="0"/>
                </a:moveTo>
                <a:lnTo>
                  <a:pt x="8413790" y="0"/>
                </a:lnTo>
                <a:lnTo>
                  <a:pt x="8413790" y="3365516"/>
                </a:lnTo>
                <a:lnTo>
                  <a:pt x="0" y="33655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852581" y="2470343"/>
            <a:ext cx="3372688" cy="37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6"/>
              </a:lnSpc>
            </a:pPr>
            <a:r>
              <a:rPr lang="en-US" sz="2896" b="1" spc="-28">
                <a:solidFill>
                  <a:srgbClr val="648D3D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Leicester City 2015/16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3987" y="473501"/>
            <a:ext cx="15500518" cy="863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6"/>
              </a:lnSpc>
            </a:pPr>
            <a:r>
              <a:rPr lang="en-US" sz="6566" b="1" spc="-64">
                <a:solidFill>
                  <a:srgbClr val="E4DDCC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L2 Module: </a:t>
            </a:r>
            <a:r>
              <a:rPr lang="en-US" sz="6566" b="1" spc="-64">
                <a:solidFill>
                  <a:srgbClr val="648D3D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Tactical Pattern Stability in Action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7456" y="1431145"/>
            <a:ext cx="9153590" cy="37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b="1" spc="-28">
                <a:solidFill>
                  <a:srgbClr val="E4DDCC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Python-generated sequence fields and Jaccard stability index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23575" y="2470343"/>
            <a:ext cx="4135606" cy="37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6"/>
              </a:lnSpc>
            </a:pPr>
            <a:r>
              <a:rPr lang="en-US" sz="2896" b="1" spc="-28">
                <a:solidFill>
                  <a:srgbClr val="648D3D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Bayer Leverkusen 2023/24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87542" y="7594237"/>
            <a:ext cx="3407671" cy="44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8"/>
              </a:lnSpc>
            </a:pPr>
            <a:r>
              <a:rPr lang="en-US" sz="3478" b="1" spc="-33">
                <a:solidFill>
                  <a:srgbClr val="E4DDCC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Jaccard Index: </a:t>
            </a:r>
            <a:r>
              <a:rPr lang="en-US" sz="3478" b="1" spc="-33">
                <a:solidFill>
                  <a:srgbClr val="648D3D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0.83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95146" y="8178234"/>
            <a:ext cx="3792463" cy="309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sz="2487" b="1" spc="-24">
                <a:solidFill>
                  <a:srgbClr val="648D3D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High stability / tactical rigidity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902609" y="7594237"/>
            <a:ext cx="3272631" cy="44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8"/>
              </a:lnSpc>
            </a:pPr>
            <a:r>
              <a:rPr lang="en-US" sz="3478" b="1" spc="-33">
                <a:solidFill>
                  <a:srgbClr val="E4DDCC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Jaccard Index: </a:t>
            </a:r>
            <a:r>
              <a:rPr lang="en-US" sz="3478" b="1" spc="-33">
                <a:solidFill>
                  <a:srgbClr val="648D3D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0.71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37750" y="8178234"/>
            <a:ext cx="4202346" cy="309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sz="2487" b="1" spc="-24">
                <a:solidFill>
                  <a:srgbClr val="648D3D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Lower stability / greater variation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91244" y="9388581"/>
            <a:ext cx="13950261" cy="297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2351" b="1" spc="-22">
                <a:solidFill>
                  <a:srgbClr val="E4DDCC"/>
                </a:solidFill>
                <a:latin typeface="Anantason Condensed Semi-Bold"/>
                <a:ea typeface="Anantason Condensed Semi-Bold"/>
                <a:cs typeface="Anantason Condensed Semi-Bold"/>
                <a:sym typeface="Anantason Condensed Semi-Bold"/>
              </a:rPr>
              <a:t>The Python pipeline clusters possession sequences and measures spatial pattern overlap across bootstrap samples.</a:t>
            </a:r>
          </a:p>
        </p:txBody>
      </p:sp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14423" y="454558"/>
            <a:ext cx="6246023" cy="1356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0"/>
              </a:lnSpc>
            </a:pPr>
            <a:r>
              <a:rPr lang="en-US" sz="9015" b="1">
                <a:solidFill>
                  <a:srgbClr val="EDE4D2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L3 MODULE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9678" y="1740265"/>
            <a:ext cx="8720518" cy="598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8"/>
              </a:lnSpc>
            </a:pPr>
            <a:r>
              <a:rPr lang="en-US" sz="3939" b="1">
                <a:solidFill>
                  <a:srgbClr val="5F893F"/>
                </a:solidFill>
                <a:latin typeface="Roboto Bold"/>
                <a:ea typeface="Roboto Bold"/>
                <a:cs typeface="Roboto Bold"/>
                <a:sym typeface="Roboto Bold"/>
              </a:rPr>
              <a:t>GAME THEORY AND EXPLOITABILITY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2569017"/>
            <a:ext cx="8498670" cy="218640"/>
          </a:xfrm>
          <a:custGeom>
            <a:avLst/>
            <a:gdLst/>
            <a:ahLst/>
            <a:cxnLst/>
            <a:rect l="l" t="t" r="r" b="b"/>
            <a:pathLst>
              <a:path w="8498670" h="218640">
                <a:moveTo>
                  <a:pt x="0" y="0"/>
                </a:moveTo>
                <a:lnTo>
                  <a:pt x="8498670" y="0"/>
                </a:lnTo>
                <a:lnTo>
                  <a:pt x="849867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81437" y="3280460"/>
            <a:ext cx="2223475" cy="740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1">
                <a:solidFill>
                  <a:srgbClr val="5F893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SPATIAL DATA</a:t>
            </a:r>
          </a:p>
          <a:p>
            <a:pPr algn="l">
              <a:lnSpc>
                <a:spcPts val="3090"/>
              </a:lnSpc>
            </a:pPr>
            <a:r>
              <a:rPr lang="en-US" sz="2575" b="1">
                <a:solidFill>
                  <a:srgbClr val="5F893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CONSTRAINT</a:t>
            </a:r>
          </a:p>
        </p:txBody>
      </p:sp>
      <p:sp>
        <p:nvSpPr>
          <p:cNvPr id="7" name="Freeform 7"/>
          <p:cNvSpPr/>
          <p:nvPr/>
        </p:nvSpPr>
        <p:spPr>
          <a:xfrm>
            <a:off x="3478220" y="2776725"/>
            <a:ext cx="229694" cy="1945894"/>
          </a:xfrm>
          <a:custGeom>
            <a:avLst/>
            <a:gdLst/>
            <a:ahLst/>
            <a:cxnLst/>
            <a:rect l="l" t="t" r="r" b="b"/>
            <a:pathLst>
              <a:path w="229694" h="1945894">
                <a:moveTo>
                  <a:pt x="0" y="0"/>
                </a:moveTo>
                <a:lnTo>
                  <a:pt x="229694" y="0"/>
                </a:lnTo>
                <a:lnTo>
                  <a:pt x="229694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997233" y="2905302"/>
            <a:ext cx="4791548" cy="1488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spc="-22">
                <a:solidFill>
                  <a:srgbClr val="EDE4D2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360° broadcast frames are incomplete during open play.</a:t>
            </a:r>
          </a:p>
          <a:p>
            <a:pPr algn="l">
              <a:lnSpc>
                <a:spcPts val="3055"/>
              </a:lnSpc>
            </a:pPr>
            <a:r>
              <a:rPr lang="en-US" sz="2351" spc="-22">
                <a:solidFill>
                  <a:srgbClr val="EDE4D2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Complete for corner kicks capturing all defenders.</a:t>
            </a:r>
          </a:p>
        </p:txBody>
      </p:sp>
      <p:sp>
        <p:nvSpPr>
          <p:cNvPr id="9" name="Freeform 9"/>
          <p:cNvSpPr/>
          <p:nvPr/>
        </p:nvSpPr>
        <p:spPr>
          <a:xfrm>
            <a:off x="645330" y="4493047"/>
            <a:ext cx="8498670" cy="229572"/>
          </a:xfrm>
          <a:custGeom>
            <a:avLst/>
            <a:gdLst/>
            <a:ahLst/>
            <a:cxnLst/>
            <a:rect l="l" t="t" r="r" b="b"/>
            <a:pathLst>
              <a:path w="8498670" h="229572">
                <a:moveTo>
                  <a:pt x="0" y="0"/>
                </a:moveTo>
                <a:lnTo>
                  <a:pt x="8498670" y="0"/>
                </a:lnTo>
                <a:lnTo>
                  <a:pt x="849867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80879" y="5072700"/>
            <a:ext cx="2279258" cy="740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1">
                <a:solidFill>
                  <a:srgbClr val="5F893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GAME THEORY APPLICATION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3478220" y="4711687"/>
            <a:ext cx="229694" cy="1508614"/>
          </a:xfrm>
          <a:custGeom>
            <a:avLst/>
            <a:gdLst/>
            <a:ahLst/>
            <a:cxnLst/>
            <a:rect l="l" t="t" r="r" b="b"/>
            <a:pathLst>
              <a:path w="229694" h="150861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995328" y="4968637"/>
            <a:ext cx="4982005" cy="111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spc="-22">
                <a:solidFill>
                  <a:srgbClr val="EDE4D2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Geometric mapping of defensive structure simulates offensive options in a zero-sum framework.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5330" y="6209369"/>
            <a:ext cx="8498670" cy="229572"/>
          </a:xfrm>
          <a:custGeom>
            <a:avLst/>
            <a:gdLst/>
            <a:ahLst/>
            <a:cxnLst/>
            <a:rect l="l" t="t" r="r" b="b"/>
            <a:pathLst>
              <a:path w="8498670" h="229572">
                <a:moveTo>
                  <a:pt x="0" y="0"/>
                </a:moveTo>
                <a:lnTo>
                  <a:pt x="8498670" y="0"/>
                </a:lnTo>
                <a:lnTo>
                  <a:pt x="849867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80468" y="6654089"/>
            <a:ext cx="2320361" cy="740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1">
                <a:solidFill>
                  <a:srgbClr val="5F893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PAYOFF OPTIMIZATION</a:t>
            </a:r>
          </a:p>
        </p:txBody>
      </p:sp>
      <p:sp>
        <p:nvSpPr>
          <p:cNvPr id="15" name="Freeform 15"/>
          <p:cNvSpPr/>
          <p:nvPr/>
        </p:nvSpPr>
        <p:spPr>
          <a:xfrm>
            <a:off x="3478220" y="6428009"/>
            <a:ext cx="229694" cy="1289974"/>
          </a:xfrm>
          <a:custGeom>
            <a:avLst/>
            <a:gdLst/>
            <a:ahLst/>
            <a:cxnLst/>
            <a:rect l="l" t="t" r="r" b="b"/>
            <a:pathLst>
              <a:path w="229694" h="1289974">
                <a:moveTo>
                  <a:pt x="0" y="0"/>
                </a:moveTo>
                <a:lnTo>
                  <a:pt x="229694" y="0"/>
                </a:lnTo>
                <a:lnTo>
                  <a:pt x="229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001388" y="6583716"/>
            <a:ext cx="4376006" cy="111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spc="-22">
                <a:solidFill>
                  <a:srgbClr val="EDE4D2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Applies Nash Equilibrium and permutation tests to assess statistically significant vulnerabilities.</a:t>
            </a:r>
          </a:p>
        </p:txBody>
      </p:sp>
      <p:sp>
        <p:nvSpPr>
          <p:cNvPr id="17" name="Freeform 17"/>
          <p:cNvSpPr/>
          <p:nvPr/>
        </p:nvSpPr>
        <p:spPr>
          <a:xfrm>
            <a:off x="645330" y="7499343"/>
            <a:ext cx="8498670" cy="218640"/>
          </a:xfrm>
          <a:custGeom>
            <a:avLst/>
            <a:gdLst/>
            <a:ahLst/>
            <a:cxnLst/>
            <a:rect l="l" t="t" r="r" b="b"/>
            <a:pathLst>
              <a:path w="8498670" h="218640">
                <a:moveTo>
                  <a:pt x="0" y="0"/>
                </a:moveTo>
                <a:lnTo>
                  <a:pt x="8498670" y="0"/>
                </a:lnTo>
                <a:lnTo>
                  <a:pt x="849867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82439" y="8084869"/>
            <a:ext cx="2123327" cy="740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b="1">
                <a:solidFill>
                  <a:srgbClr val="5F893F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DATASET ROBUSTNESS</a:t>
            </a:r>
          </a:p>
        </p:txBody>
      </p:sp>
      <p:sp>
        <p:nvSpPr>
          <p:cNvPr id="19" name="Freeform 19"/>
          <p:cNvSpPr/>
          <p:nvPr/>
        </p:nvSpPr>
        <p:spPr>
          <a:xfrm>
            <a:off x="3478220" y="7707051"/>
            <a:ext cx="229694" cy="1945894"/>
          </a:xfrm>
          <a:custGeom>
            <a:avLst/>
            <a:gdLst/>
            <a:ahLst/>
            <a:cxnLst/>
            <a:rect l="l" t="t" r="r" b="b"/>
            <a:pathLst>
              <a:path w="229694" h="1945894">
                <a:moveTo>
                  <a:pt x="0" y="0"/>
                </a:moveTo>
                <a:lnTo>
                  <a:pt x="229694" y="0"/>
                </a:lnTo>
                <a:lnTo>
                  <a:pt x="22969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4002486" y="7965744"/>
            <a:ext cx="4266248" cy="159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spc="-22" dirty="0">
                <a:solidFill>
                  <a:srgbClr val="EDE4D2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Aggregation of UEFA Euro 2020,</a:t>
            </a:r>
          </a:p>
          <a:p>
            <a:pPr algn="l">
              <a:lnSpc>
                <a:spcPts val="3055"/>
              </a:lnSpc>
            </a:pPr>
            <a:r>
              <a:rPr lang="en-US" sz="2351" spc="-22" dirty="0">
                <a:solidFill>
                  <a:srgbClr val="EDE4D2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UEFA Euro 2024, and</a:t>
            </a:r>
          </a:p>
          <a:p>
            <a:pPr algn="l">
              <a:lnSpc>
                <a:spcPts val="3055"/>
              </a:lnSpc>
            </a:pPr>
            <a:r>
              <a:rPr lang="en-US" sz="2351" spc="-22" dirty="0">
                <a:solidFill>
                  <a:srgbClr val="EDE4D2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FIFA World Cup 2022</a:t>
            </a:r>
          </a:p>
          <a:p>
            <a:pPr algn="l">
              <a:lnSpc>
                <a:spcPts val="3055"/>
              </a:lnSpc>
            </a:pPr>
            <a:r>
              <a:rPr lang="en-US" sz="2351" spc="-22" dirty="0">
                <a:solidFill>
                  <a:srgbClr val="EDE4D2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yielding ~1500 corners.</a:t>
            </a:r>
          </a:p>
        </p:txBody>
      </p:sp>
      <p:sp>
        <p:nvSpPr>
          <p:cNvPr id="21" name="Freeform 21"/>
          <p:cNvSpPr/>
          <p:nvPr/>
        </p:nvSpPr>
        <p:spPr>
          <a:xfrm>
            <a:off x="8050220" y="1497682"/>
            <a:ext cx="9592450" cy="7510275"/>
          </a:xfrm>
          <a:custGeom>
            <a:avLst/>
            <a:gdLst/>
            <a:ahLst/>
            <a:cxnLst/>
            <a:rect l="l" t="t" r="r" b="b"/>
            <a:pathLst>
              <a:path w="9592450" h="7510275">
                <a:moveTo>
                  <a:pt x="0" y="0"/>
                </a:moveTo>
                <a:lnTo>
                  <a:pt x="9592450" y="0"/>
                </a:lnTo>
                <a:lnTo>
                  <a:pt x="9592450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4798842" y="5356674"/>
            <a:ext cx="1968804" cy="1716322"/>
          </a:xfrm>
          <a:custGeom>
            <a:avLst/>
            <a:gdLst/>
            <a:ahLst/>
            <a:cxnLst/>
            <a:rect l="l" t="t" r="r" b="b"/>
            <a:pathLst>
              <a:path w="1968804" h="1716322">
                <a:moveTo>
                  <a:pt x="0" y="0"/>
                </a:moveTo>
                <a:lnTo>
                  <a:pt x="1968804" y="0"/>
                </a:lnTo>
                <a:lnTo>
                  <a:pt x="196880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 rot="110742">
            <a:off x="15270983" y="5912120"/>
            <a:ext cx="1007818" cy="580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849" b="1">
                <a:solidFill>
                  <a:srgbClr val="5F893F"/>
                </a:solidFill>
                <a:latin typeface="Roboto Bold"/>
                <a:ea typeface="Roboto Bold"/>
                <a:cs typeface="Roboto Bold"/>
                <a:sym typeface="Roboto Bold"/>
              </a:rPr>
              <a:t>0.27</a:t>
            </a:r>
          </a:p>
        </p:txBody>
      </p:sp>
      <p:sp>
        <p:nvSpPr>
          <p:cNvPr id="24" name="TextBox 24"/>
          <p:cNvSpPr txBox="1"/>
          <p:nvPr/>
        </p:nvSpPr>
        <p:spPr>
          <a:xfrm rot="110742">
            <a:off x="14971146" y="5680669"/>
            <a:ext cx="1607187" cy="196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spc="-13">
                <a:solidFill>
                  <a:srgbClr val="5F893F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Expected Goals (xG)</a:t>
            </a:r>
          </a:p>
        </p:txBody>
      </p:sp>
      <p:sp>
        <p:nvSpPr>
          <p:cNvPr id="25" name="TextBox 25"/>
          <p:cNvSpPr txBox="1"/>
          <p:nvPr/>
        </p:nvSpPr>
        <p:spPr>
          <a:xfrm rot="110742">
            <a:off x="15140265" y="6569259"/>
            <a:ext cx="1268949" cy="196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3"/>
              </a:lnSpc>
            </a:pPr>
            <a:r>
              <a:rPr lang="en-US" sz="1335" spc="-13">
                <a:solidFill>
                  <a:srgbClr val="C2C2B3"/>
                </a:solidFill>
                <a:latin typeface="Anantason Condensed"/>
                <a:ea typeface="Anantason Condensed"/>
                <a:cs typeface="Anantason Condensed"/>
                <a:sym typeface="Anantason Condensed"/>
              </a:rPr>
              <a:t>Optimal Routine</a:t>
            </a:r>
          </a:p>
        </p:txBody>
      </p:sp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831464" y="1497682"/>
            <a:ext cx="9811206" cy="7717983"/>
          </a:xfrm>
          <a:custGeom>
            <a:avLst/>
            <a:gdLst/>
            <a:ahLst/>
            <a:cxnLst/>
            <a:rect l="l" t="t" r="r" b="b"/>
            <a:pathLst>
              <a:path w="9811206" h="7717983">
                <a:moveTo>
                  <a:pt x="0" y="0"/>
                </a:moveTo>
                <a:lnTo>
                  <a:pt x="9811206" y="0"/>
                </a:lnTo>
                <a:lnTo>
                  <a:pt x="9811206" y="7717983"/>
                </a:lnTo>
                <a:lnTo>
                  <a:pt x="0" y="7717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33350" y="1010239"/>
            <a:ext cx="6316541" cy="9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03"/>
              </a:lnSpc>
            </a:pPr>
            <a:r>
              <a:rPr lang="en-US" sz="7403" b="1">
                <a:solidFill>
                  <a:srgbClr val="F0E9D8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DATASET AND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1630" y="1944011"/>
            <a:ext cx="5488544" cy="9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03"/>
              </a:lnSpc>
            </a:pPr>
            <a:r>
              <a:rPr lang="en-US" sz="7403" b="1">
                <a:solidFill>
                  <a:srgbClr val="61923C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VALIDATION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5980" y="2877784"/>
            <a:ext cx="7053534" cy="9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03"/>
              </a:lnSpc>
            </a:pPr>
            <a:r>
              <a:rPr lang="en-US" sz="7403" b="1">
                <a:solidFill>
                  <a:srgbClr val="61923C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METHODOLOGY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3848060"/>
            <a:ext cx="1968804" cy="448211"/>
          </a:xfrm>
          <a:custGeom>
            <a:avLst/>
            <a:gdLst/>
            <a:ahLst/>
            <a:cxnLst/>
            <a:rect l="l" t="t" r="r" b="b"/>
            <a:pathLst>
              <a:path w="1968804" h="448211">
                <a:moveTo>
                  <a:pt x="0" y="0"/>
                </a:moveTo>
                <a:lnTo>
                  <a:pt x="1968804" y="0"/>
                </a:lnTo>
                <a:lnTo>
                  <a:pt x="196880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77572" y="4462144"/>
            <a:ext cx="7252160" cy="832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654" b="1">
                <a:solidFill>
                  <a:srgbClr val="61923C"/>
                </a:solidFill>
                <a:latin typeface="Roboto Bold"/>
                <a:ea typeface="Roboto Bold"/>
                <a:cs typeface="Roboto Bold"/>
                <a:sym typeface="Roboto Bold"/>
              </a:rPr>
              <a:t>Open-Source Data:</a:t>
            </a:r>
            <a:r>
              <a:rPr lang="en-US" sz="2654" b="1">
                <a:solidFill>
                  <a:srgbClr val="F0E9D8"/>
                </a:solidFill>
                <a:latin typeface="Roboto Bold"/>
                <a:ea typeface="Roboto Bold"/>
                <a:cs typeface="Roboto Bold"/>
                <a:sym typeface="Roboto Bold"/>
              </a:rPr>
              <a:t> StatsBomb Open Data combining event data and 360° freeze frames.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1988" y="5636889"/>
            <a:ext cx="5810608" cy="1243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654" b="1">
                <a:solidFill>
                  <a:srgbClr val="61923C"/>
                </a:solidFill>
                <a:latin typeface="Roboto Bold"/>
                <a:ea typeface="Roboto Bold"/>
                <a:cs typeface="Roboto Bold"/>
                <a:sym typeface="Roboto Bold"/>
              </a:rPr>
              <a:t>Ground Truth:</a:t>
            </a:r>
            <a:r>
              <a:rPr lang="en-US" sz="2654" b="1">
                <a:solidFill>
                  <a:srgbClr val="F0E9D8"/>
                </a:solidFill>
                <a:latin typeface="Roboto Bold"/>
                <a:ea typeface="Roboto Bold"/>
                <a:cs typeface="Roboto Bold"/>
                <a:sym typeface="Roboto Bold"/>
              </a:rPr>
              <a:t> Preliminary stress test validates average baseline xG per corner at </a:t>
            </a:r>
            <a:r>
              <a:rPr lang="en-US" sz="2654" b="1">
                <a:solidFill>
                  <a:srgbClr val="61923C"/>
                </a:solidFill>
                <a:latin typeface="Roboto Bold"/>
                <a:ea typeface="Roboto Bold"/>
                <a:cs typeface="Roboto Bold"/>
                <a:sym typeface="Roboto Bold"/>
              </a:rPr>
              <a:t>0.046.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0997" y="7197744"/>
            <a:ext cx="6909684" cy="823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2623" b="1">
                <a:solidFill>
                  <a:srgbClr val="61923C"/>
                </a:solidFill>
                <a:latin typeface="Roboto Bold"/>
                <a:ea typeface="Roboto Bold"/>
                <a:cs typeface="Roboto Bold"/>
                <a:sym typeface="Roboto Bold"/>
              </a:rPr>
              <a:t>Predictive Methodology:</a:t>
            </a:r>
            <a:r>
              <a:rPr lang="en-US" sz="2623" b="1">
                <a:solidFill>
                  <a:srgbClr val="F0E9D8"/>
                </a:solidFill>
                <a:latin typeface="Roboto Bold"/>
                <a:ea typeface="Roboto Bold"/>
                <a:cs typeface="Roboto Bold"/>
                <a:sym typeface="Roboto Bold"/>
              </a:rPr>
              <a:t> Rigorous</a:t>
            </a:r>
          </a:p>
          <a:p>
            <a:pPr algn="l">
              <a:lnSpc>
                <a:spcPts val="3279"/>
              </a:lnSpc>
            </a:pPr>
            <a:r>
              <a:rPr lang="en-US" sz="2623" b="1">
                <a:solidFill>
                  <a:srgbClr val="F0E9D8"/>
                </a:solidFill>
                <a:latin typeface="Roboto Bold"/>
                <a:ea typeface="Roboto Bold"/>
                <a:cs typeface="Roboto Bold"/>
                <a:sym typeface="Roboto Bold"/>
              </a:rPr>
              <a:t>out-of-sample testing to validate algorithms.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2108" y="8377962"/>
            <a:ext cx="6798624" cy="1243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654" b="1">
                <a:solidFill>
                  <a:srgbClr val="61923C"/>
                </a:solidFill>
                <a:latin typeface="Roboto Bold"/>
                <a:ea typeface="Roboto Bold"/>
                <a:cs typeface="Roboto Bold"/>
                <a:sym typeface="Roboto Bold"/>
              </a:rPr>
              <a:t>Independence and Reproductibility:</a:t>
            </a:r>
            <a:r>
              <a:rPr lang="en-US" sz="2654" b="1">
                <a:solidFill>
                  <a:srgbClr val="F0E9D8"/>
                </a:solidFill>
                <a:latin typeface="Roboto Bold"/>
                <a:ea typeface="Roboto Bold"/>
                <a:cs typeface="Roboto Bold"/>
                <a:sym typeface="Roboto Bold"/>
              </a:rPr>
              <a:t> No reliance on proprietary software or external commercial licenses.</a:t>
            </a:r>
          </a:p>
        </p:txBody>
      </p:sp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FAAE6-F9E8-73E4-316A-2E707BBE9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A89606-99A2-9523-AF30-34625E893BF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1C63B8C-435D-25E1-0D88-F728DD0AD41B}"/>
              </a:ext>
            </a:extLst>
          </p:cNvPr>
          <p:cNvSpPr txBox="1"/>
          <p:nvPr/>
        </p:nvSpPr>
        <p:spPr>
          <a:xfrm>
            <a:off x="633350" y="1010239"/>
            <a:ext cx="6316541" cy="9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03"/>
              </a:lnSpc>
            </a:pPr>
            <a:r>
              <a:rPr lang="en-US" sz="7403" b="1">
                <a:solidFill>
                  <a:srgbClr val="F0E9D8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DATASET AND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BAA9BBB-E927-0D23-1FA4-064D6BC96812}"/>
              </a:ext>
            </a:extLst>
          </p:cNvPr>
          <p:cNvSpPr txBox="1"/>
          <p:nvPr/>
        </p:nvSpPr>
        <p:spPr>
          <a:xfrm>
            <a:off x="641630" y="1944011"/>
            <a:ext cx="5488544" cy="9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03"/>
              </a:lnSpc>
            </a:pPr>
            <a:r>
              <a:rPr lang="en-US" sz="7403" b="1" dirty="0">
                <a:solidFill>
                  <a:srgbClr val="61923C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VALIDATION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07DD7D7-51BA-C009-C488-38C9BF1E7668}"/>
              </a:ext>
            </a:extLst>
          </p:cNvPr>
          <p:cNvSpPr txBox="1"/>
          <p:nvPr/>
        </p:nvSpPr>
        <p:spPr>
          <a:xfrm>
            <a:off x="625980" y="2877784"/>
            <a:ext cx="7053534" cy="98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03"/>
              </a:lnSpc>
            </a:pPr>
            <a:r>
              <a:rPr lang="en-US" sz="7403" b="1" dirty="0">
                <a:solidFill>
                  <a:srgbClr val="61923C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METHODOLOGY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23AE4BA-4D9A-FD18-77C8-352AF8EBF39E}"/>
              </a:ext>
            </a:extLst>
          </p:cNvPr>
          <p:cNvSpPr/>
          <p:nvPr/>
        </p:nvSpPr>
        <p:spPr>
          <a:xfrm>
            <a:off x="645330" y="3848060"/>
            <a:ext cx="1968804" cy="448211"/>
          </a:xfrm>
          <a:custGeom>
            <a:avLst/>
            <a:gdLst/>
            <a:ahLst/>
            <a:cxnLst/>
            <a:rect l="l" t="t" r="r" b="b"/>
            <a:pathLst>
              <a:path w="1968804" h="448211">
                <a:moveTo>
                  <a:pt x="0" y="0"/>
                </a:moveTo>
                <a:lnTo>
                  <a:pt x="1968804" y="0"/>
                </a:lnTo>
                <a:lnTo>
                  <a:pt x="196880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F27CAB0-BC0C-3E66-C63E-D00D3FFA63EF}"/>
              </a:ext>
            </a:extLst>
          </p:cNvPr>
          <p:cNvSpPr txBox="1"/>
          <p:nvPr/>
        </p:nvSpPr>
        <p:spPr>
          <a:xfrm>
            <a:off x="677572" y="4462144"/>
            <a:ext cx="8695028" cy="8168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654" b="1" dirty="0">
                <a:solidFill>
                  <a:srgbClr val="61923C"/>
                </a:solidFill>
                <a:latin typeface="Roboto Bold"/>
                <a:ea typeface="Roboto Bold"/>
                <a:cs typeface="Roboto Bold"/>
                <a:sym typeface="Roboto Bold"/>
              </a:rPr>
              <a:t>Bayern Leverkusen:</a:t>
            </a:r>
            <a:r>
              <a:rPr lang="en-US" sz="2654" b="1" dirty="0">
                <a:solidFill>
                  <a:srgbClr val="F0E9D8"/>
                </a:solidFill>
                <a:latin typeface="Roboto Bold"/>
                <a:ea typeface="Roboto Bold"/>
                <a:cs typeface="Roboto Bold"/>
                <a:sym typeface="Roboto Bold"/>
              </a:rPr>
              <a:t> 236 corners, exploitability is 0.026 and p-value is 0.17 -&gt; not distinguishable from chance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AF0F776-9159-BAB1-1BB4-E43039301E71}"/>
              </a:ext>
            </a:extLst>
          </p:cNvPr>
          <p:cNvSpPr txBox="1"/>
          <p:nvPr/>
        </p:nvSpPr>
        <p:spPr>
          <a:xfrm>
            <a:off x="663826" y="5460140"/>
            <a:ext cx="8223412" cy="402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654" b="1" dirty="0">
                <a:solidFill>
                  <a:srgbClr val="61923C"/>
                </a:solidFill>
                <a:latin typeface="Roboto Bold"/>
                <a:ea typeface="Roboto Bold"/>
                <a:cs typeface="Roboto Bold"/>
                <a:sym typeface="Roboto Bold"/>
              </a:rPr>
              <a:t>National cups:</a:t>
            </a:r>
            <a:r>
              <a:rPr lang="en-US" sz="2654" b="1" dirty="0">
                <a:solidFill>
                  <a:srgbClr val="F0E9D8"/>
                </a:solidFill>
                <a:latin typeface="Roboto Bold"/>
                <a:ea typeface="Roboto Bold"/>
                <a:cs typeface="Roboto Bold"/>
                <a:sym typeface="Roboto Bold"/>
              </a:rPr>
              <a:t> 1538 corners and p-value of 0.41</a:t>
            </a:r>
            <a:endParaRPr lang="en-US" sz="2654" b="1" dirty="0">
              <a:solidFill>
                <a:srgbClr val="61923C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C2FB68F-0CA8-4617-DEF7-F318032E9AEC}"/>
              </a:ext>
            </a:extLst>
          </p:cNvPr>
          <p:cNvSpPr txBox="1"/>
          <p:nvPr/>
        </p:nvSpPr>
        <p:spPr>
          <a:xfrm>
            <a:off x="663826" y="6043729"/>
            <a:ext cx="8463003" cy="12479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2623" b="1" dirty="0">
                <a:solidFill>
                  <a:srgbClr val="61923C"/>
                </a:solidFill>
                <a:latin typeface="Roboto Bold"/>
                <a:ea typeface="Roboto Bold"/>
                <a:cs typeface="Roboto Bold"/>
                <a:sym typeface="Roboto Bold"/>
              </a:rPr>
              <a:t>This does not provide that exploitability does not exists:</a:t>
            </a:r>
            <a:r>
              <a:rPr lang="en-US" sz="2623" b="1" dirty="0">
                <a:solidFill>
                  <a:srgbClr val="F0E9D8"/>
                </a:solidFill>
                <a:latin typeface="Roboto Bold"/>
                <a:ea typeface="Roboto Bold"/>
                <a:cs typeface="Roboto Bold"/>
                <a:sym typeface="Roboto Bold"/>
              </a:rPr>
              <a:t> defender positions are partial and many cells of my table are nearly empty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402069B-799E-9967-497A-312ED5C4D1C2}"/>
              </a:ext>
            </a:extLst>
          </p:cNvPr>
          <p:cNvSpPr txBox="1"/>
          <p:nvPr/>
        </p:nvSpPr>
        <p:spPr>
          <a:xfrm>
            <a:off x="2893754" y="8069409"/>
            <a:ext cx="12500492" cy="825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654" b="1" dirty="0">
                <a:solidFill>
                  <a:srgbClr val="61923C"/>
                </a:solidFill>
                <a:latin typeface="Roboto Bold"/>
                <a:ea typeface="Roboto Bold"/>
                <a:cs typeface="Roboto Bold"/>
                <a:sym typeface="Roboto Bold"/>
              </a:rPr>
              <a:t>I WILL STUDY WHETHER AN EFFECT APPEARS AND I WILL REPORT THE RESULT EITHER WAY. </a:t>
            </a:r>
            <a:r>
              <a:rPr lang="en-US" sz="2654" b="1" dirty="0">
                <a:solidFill>
                  <a:schemeClr val="bg1"/>
                </a:solidFill>
                <a:latin typeface="Roboto Bold"/>
                <a:ea typeface="Roboto Bold"/>
                <a:cs typeface="Roboto Bold"/>
                <a:sym typeface="Roboto Bold"/>
              </a:rPr>
              <a:t>A NULL RESULT, IS STILL A RESULT</a:t>
            </a:r>
          </a:p>
        </p:txBody>
      </p:sp>
    </p:spTree>
    <p:extLst>
      <p:ext uri="{BB962C8B-B14F-4D97-AF65-F5344CB8AC3E}">
        <p14:creationId xmlns:p14="http://schemas.microsoft.com/office/powerpoint/2010/main" val="1032779764"/>
      </p:ext>
    </p:extLst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66597" y="341726"/>
            <a:ext cx="11028592" cy="10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6845" b="1">
                <a:solidFill>
                  <a:srgbClr val="E8E2D3"/>
                </a:solidFill>
                <a:latin typeface="Heading Now 61-68 Bold"/>
                <a:ea typeface="Heading Now 61-68 Bold"/>
                <a:cs typeface="Heading Now 61-68 Bold"/>
                <a:sym typeface="Heading Now 61-68 Bold"/>
              </a:rPr>
              <a:t>DEVELOPMENT ROADMAP: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4625" y="1215227"/>
            <a:ext cx="7225787" cy="1025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6"/>
              </a:lnSpc>
            </a:pPr>
            <a:r>
              <a:rPr lang="en-US" sz="6566" b="1">
                <a:solidFill>
                  <a:srgbClr val="5C8D3D"/>
                </a:solidFill>
                <a:latin typeface="Heading Now 61-68 Bold"/>
                <a:ea typeface="Heading Now 61-68 Bold"/>
                <a:cs typeface="Heading Now 61-68 Bold"/>
                <a:sym typeface="Heading Now 61-68 Bold"/>
              </a:rPr>
              <a:t>6–7 MONTH PLAN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2142670"/>
            <a:ext cx="6978316" cy="218640"/>
          </a:xfrm>
          <a:custGeom>
            <a:avLst/>
            <a:gdLst/>
            <a:ahLst/>
            <a:cxnLst/>
            <a:rect l="l" t="t" r="r" b="b"/>
            <a:pathLst>
              <a:path w="6978316" h="218640">
                <a:moveTo>
                  <a:pt x="0" y="0"/>
                </a:moveTo>
                <a:lnTo>
                  <a:pt x="6978316" y="0"/>
                </a:lnTo>
                <a:lnTo>
                  <a:pt x="697831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5330" y="2350377"/>
            <a:ext cx="1104718" cy="874559"/>
          </a:xfrm>
          <a:custGeom>
            <a:avLst/>
            <a:gdLst/>
            <a:ahLst/>
            <a:cxnLst/>
            <a:rect l="l" t="t" r="r" b="b"/>
            <a:pathLst>
              <a:path w="1104718" h="874559">
                <a:moveTo>
                  <a:pt x="0" y="0"/>
                </a:moveTo>
                <a:lnTo>
                  <a:pt x="1104718" y="0"/>
                </a:lnTo>
                <a:lnTo>
                  <a:pt x="110471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957866" y="3640352"/>
            <a:ext cx="12195646" cy="218640"/>
          </a:xfrm>
          <a:custGeom>
            <a:avLst/>
            <a:gdLst/>
            <a:ahLst/>
            <a:cxnLst/>
            <a:rect l="l" t="t" r="r" b="b"/>
            <a:pathLst>
              <a:path w="12195646" h="218640">
                <a:moveTo>
                  <a:pt x="0" y="0"/>
                </a:moveTo>
                <a:lnTo>
                  <a:pt x="12195646" y="0"/>
                </a:lnTo>
                <a:lnTo>
                  <a:pt x="1219564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0354" y="3214004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93232" y="4541581"/>
            <a:ext cx="2475212" cy="83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1" spc="-55">
                <a:solidFill>
                  <a:srgbClr val="5C8D3D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L2 Data Pipeline &amp; Pattern Discovery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8375" y="5520536"/>
            <a:ext cx="2960911" cy="238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46">
                <a:solidFill>
                  <a:srgbClr val="E8E2D3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Large-scale download, cleaning and spatial alignment of event and 360° data; initial unsupervised clustering on Bayer Leverkusen possession sequences.</a:t>
            </a:r>
          </a:p>
        </p:txBody>
      </p:sp>
      <p:sp>
        <p:nvSpPr>
          <p:cNvPr id="11" name="Freeform 11"/>
          <p:cNvSpPr/>
          <p:nvPr/>
        </p:nvSpPr>
        <p:spPr>
          <a:xfrm>
            <a:off x="6092354" y="3640352"/>
            <a:ext cx="229694" cy="863627"/>
          </a:xfrm>
          <a:custGeom>
            <a:avLst/>
            <a:gdLst/>
            <a:ahLst/>
            <a:cxnLst/>
            <a:rect l="l" t="t" r="r" b="b"/>
            <a:pathLst>
              <a:path w="229694" h="863627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654842" y="3214004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040581" y="4541581"/>
            <a:ext cx="2255216" cy="83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1" spc="-55">
                <a:solidFill>
                  <a:srgbClr val="5C8D3D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L3 Game-Theory Development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37308" y="5520536"/>
            <a:ext cx="2582528" cy="1794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E8E2D3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encode the defensive-structure model and optimise set-piece countermeasures using Expected Goals (xG).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008086" y="3640352"/>
            <a:ext cx="448450" cy="863627"/>
          </a:xfrm>
          <a:custGeom>
            <a:avLst/>
            <a:gdLst/>
            <a:ahLst/>
            <a:cxnLst/>
            <a:rect l="l" t="t" r="r" b="b"/>
            <a:pathLst>
              <a:path w="448450" h="863627">
                <a:moveTo>
                  <a:pt x="0" y="0"/>
                </a:moveTo>
                <a:lnTo>
                  <a:pt x="448450" y="0"/>
                </a:lnTo>
                <a:lnTo>
                  <a:pt x="448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789330" y="3214004"/>
            <a:ext cx="885962" cy="1082267"/>
          </a:xfrm>
          <a:custGeom>
            <a:avLst/>
            <a:gdLst/>
            <a:ahLst/>
            <a:cxnLst/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107127" y="4541581"/>
            <a:ext cx="2794296" cy="83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1" spc="-55">
                <a:solidFill>
                  <a:srgbClr val="5C8D3D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Industrial Validation: LASK Linz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09162" y="5520536"/>
            <a:ext cx="2590805" cy="2151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E8E2D3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propose testing the algorithm on LASK Linz tracking data to assess robustness in a professional-club environment.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4142574" y="3640352"/>
            <a:ext cx="448450" cy="863627"/>
          </a:xfrm>
          <a:custGeom>
            <a:avLst/>
            <a:gdLst/>
            <a:ahLst/>
            <a:cxnLst/>
            <a:rect l="l" t="t" r="r" b="b"/>
            <a:pathLst>
              <a:path w="448450" h="863627">
                <a:moveTo>
                  <a:pt x="0" y="0"/>
                </a:moveTo>
                <a:lnTo>
                  <a:pt x="448450" y="0"/>
                </a:lnTo>
                <a:lnTo>
                  <a:pt x="448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716000" y="3214004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3313950" y="4541581"/>
            <a:ext cx="2700336" cy="83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b="1" spc="-55">
                <a:solidFill>
                  <a:srgbClr val="5C8D3D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Evaluation &amp; Thesis Integration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14076" y="5520536"/>
            <a:ext cx="2687674" cy="1794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E8E2D3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out-of-sample validation, comparison of L2 and</a:t>
            </a:r>
          </a:p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E8E2D3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L3 results, and</a:t>
            </a:r>
          </a:p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E8E2D3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integration of findings</a:t>
            </a:r>
          </a:p>
          <a:p>
            <a:pPr algn="l">
              <a:lnSpc>
                <a:spcPts val="2932"/>
              </a:lnSpc>
            </a:pPr>
            <a:r>
              <a:rPr lang="en-US" sz="2443" spc="-48">
                <a:solidFill>
                  <a:srgbClr val="E8E2D3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into the final thesis.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10632" y="3562627"/>
            <a:ext cx="317646" cy="420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759" b="1" spc="-55">
                <a:solidFill>
                  <a:srgbClr val="FFFFFF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54507" y="3562627"/>
            <a:ext cx="317646" cy="420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759" b="1" spc="-55">
                <a:solidFill>
                  <a:srgbClr val="FFFFFF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36148" y="3562627"/>
            <a:ext cx="317646" cy="420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759" b="1" spc="-55">
                <a:solidFill>
                  <a:srgbClr val="FFFFFF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02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180023" y="3562627"/>
            <a:ext cx="317646" cy="420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759" b="1" spc="-55">
                <a:solidFill>
                  <a:srgbClr val="FFFFFF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04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</TotalTime>
  <Words>1032</Words>
  <Application>Microsoft Office PowerPoint</Application>
  <PresentationFormat>Personalizzato</PresentationFormat>
  <Paragraphs>190</Paragraphs>
  <Slides>34</Slides>
  <Notes>1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12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47" baseType="lpstr">
      <vt:lpstr>Archivo Narrow</vt:lpstr>
      <vt:lpstr>Anantason Condensed Heavy</vt:lpstr>
      <vt:lpstr>Anantason Condensed</vt:lpstr>
      <vt:lpstr>Roboto Bold</vt:lpstr>
      <vt:lpstr>Arial</vt:lpstr>
      <vt:lpstr>Anantason Condensed Medium</vt:lpstr>
      <vt:lpstr>Heading Now 61-68 Bold</vt:lpstr>
      <vt:lpstr>Anantason Condensed Bold</vt:lpstr>
      <vt:lpstr>Calibri</vt:lpstr>
      <vt:lpstr>Anantason Condensed Semi-Bold</vt:lpstr>
      <vt:lpstr>Roboto</vt:lpstr>
      <vt:lpstr>Archivo Narrow 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Idea</dc:title>
  <cp:lastModifiedBy>Emanuele Colecchia</cp:lastModifiedBy>
  <cp:revision>8</cp:revision>
  <dcterms:created xsi:type="dcterms:W3CDTF">2006-08-16T00:00:00Z</dcterms:created>
  <dcterms:modified xsi:type="dcterms:W3CDTF">2026-10-12T09:06:20Z</dcterms:modified>
  <dc:identifier>DAHXIX-GnEg</dc:identifier>
</cp:coreProperties>
</file>